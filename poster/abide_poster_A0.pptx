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2A78D6"/>
            </a:solidFill>
            <a:effectLst/>
          </c:spPr>
          <c:invertIfNegative val="0"/>
          <c:dLbls>
            <c:numFmt formatCode="0.0&quot;%&quot;" sourceLinked="0"/>
            <c:txPr>
              <a:bodyPr/>
              <a:lstStyle/>
              <a:p>
                <a:pPr>
                  <a:defRPr b="0" i="0" strike="noStrike" sz="2200" u="none">
                    <a:solidFill>
                      <a:srgbClr val="1B2A41"/>
                    </a:solidFill>
                    <a:latin typeface="Arial"/>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898781"/>
              </a:solidFill>
              <a:effectLst/>
            </c:spPr>
          </c:dPt>
          <c:cat>
            <c:multiLvlStrRef>
              <c:f>Sheet1!$A$2:$A$5</c:f>
              <c:multiLvlStrCache>
                <c:ptCount val="4"/>
                <c:lvl>
                  <c:pt idx="0">
                    <c:v>Tangent connectivity</c:v>
                  </c:pt>
                  <c:pt idx="1">
                    <c:v>Correlation</c:v>
                  </c:pt>
                  <c:pt idx="2">
                    <c:v>Partial correlation</c:v>
                  </c:pt>
                  <c:pt idx="3">
                    <c:v>Always guess "control"</c:v>
                  </c:pt>
                </c:lvl>
              </c:multiLvlStrCache>
            </c:multiLvlStrRef>
          </c:cat>
          <c:val>
            <c:numRef>
              <c:f>Sheet1!$B$2:$B$5</c:f>
              <c:numCache>
                <c:formatCode>General</c:formatCode>
                <c:ptCount val="4"/>
                <c:pt idx="0">
                  <c:v>67.9</c:v>
                </c:pt>
                <c:pt idx="1">
                  <c:v>66.6</c:v>
                </c:pt>
                <c:pt idx="2">
                  <c:v>61.9</c:v>
                </c:pt>
                <c:pt idx="3">
                  <c:v>53.7</c:v>
                </c:pt>
              </c:numCache>
            </c:numRef>
          </c:val>
        </c:ser>
        <c:dLbls>
          <c:numFmt formatCode="0.0&quot;%&quot;" sourceLinked="0"/>
          <c:txPr>
            <a:bodyPr/>
            <a:lstStyle/>
            <a:p>
              <a:pPr>
                <a:defRPr b="0" i="0" strike="noStrike" sz="2200" u="none">
                  <a:solidFill>
                    <a:srgbClr val="1B2A41"/>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22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1E0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2200" b="0" i="0" u="none" strike="noStrike">
                <a:solidFill>
                  <a:srgbClr val="52514E"/>
                </a:solidFill>
                <a:latin typeface="Arial"/>
              </a:defRPr>
            </a:pPr>
            <a:endParaRPr lang="en-US"/>
          </a:p>
        </c:txPr>
        <c:crossAx val="2094734554"/>
        <c:crosses val="autoZero"/>
        <c:crossBetween val="between"/>
        <c:majorUnit val="25"/>
      </c:valAx>
      <c:spPr>
        <a:solidFill>
          <a:srgbClr val="EEF1F6"/>
        </a:solidFill>
        <a:ln>
          <a:noFill/>
        </a:ln>
        <a:effectLst/>
      </c:spPr>
    </c:plotArea>
    <c:plotVisOnly val="1"/>
    <c:dispBlanksAs val="span"/>
  </c:chart>
  <c:spPr>
    <a:solidFill>
      <a:srgbClr val="EEF1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picture vs report</c:v>
                </c:pt>
              </c:strCache>
            </c:strRef>
          </c:tx>
          <c:spPr>
            <a:solidFill>
              <a:srgbClr val="2A78D6"/>
            </a:solidFill>
            <a:ln w="31750" cap="flat">
              <a:solidFill>
                <a:srgbClr val="2A78D6"/>
              </a:solidFill>
              <a:prstDash val="solid"/>
              <a:round/>
            </a:ln>
            <a:effectLst/>
          </c:spPr>
          <c:marker>
            <c:symbol val="none"/>
            <c:size val="6"/>
            <c:spPr>
              <a:solidFill>
                <a:srgbClr val="2A78D6"/>
              </a:solidFill>
              <a:ln w="9525" cap="flat">
                <a:solidFill>
                  <a:srgbClr val="2A78D6"/>
                </a:solidFill>
                <a:prstDash val="solid"/>
                <a:round/>
              </a:ln>
              <a:effectLst/>
            </c:spPr>
          </c:marker>
          <c:xVal>
            <c:numRef>
              <c:f>Sheet1!$A$2:$A$251</c:f>
              <c:numCache>
                <c:formatCode>General</c:formatCode>
                <c:ptCount val="2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numCache>
            </c:numRef>
          </c:xVal>
          <c:yVal>
            <c:numRef>
              <c:f>Sheet1!$B$2:$B$251</c:f>
              <c:numCache>
                <c:formatCode>General</c:formatCode>
                <c:ptCount val="250"/>
                <c:pt idx="0">
                  <c:v>3.502</c:v>
                </c:pt>
                <c:pt idx="1">
                  <c:v>3.486</c:v>
                </c:pt>
                <c:pt idx="2">
                  <c:v>3.53</c:v>
                </c:pt>
                <c:pt idx="3">
                  <c:v>3.483</c:v>
                </c:pt>
                <c:pt idx="4">
                  <c:v>3.518</c:v>
                </c:pt>
                <c:pt idx="5">
                  <c:v>3.558</c:v>
                </c:pt>
                <c:pt idx="6">
                  <c:v>3.555</c:v>
                </c:pt>
                <c:pt idx="7">
                  <c:v>3.513</c:v>
                </c:pt>
                <c:pt idx="8">
                  <c:v>3.531</c:v>
                </c:pt>
                <c:pt idx="9">
                  <c:v>3.491</c:v>
                </c:pt>
                <c:pt idx="10">
                  <c:v>3.538</c:v>
                </c:pt>
                <c:pt idx="11">
                  <c:v>3.511</c:v>
                </c:pt>
                <c:pt idx="12">
                  <c:v>3.531</c:v>
                </c:pt>
                <c:pt idx="13">
                  <c:v>3.606</c:v>
                </c:pt>
                <c:pt idx="14">
                  <c:v>3.512</c:v>
                </c:pt>
                <c:pt idx="15">
                  <c:v>3.532</c:v>
                </c:pt>
                <c:pt idx="16">
                  <c:v>3.563</c:v>
                </c:pt>
                <c:pt idx="17">
                  <c:v>3.518</c:v>
                </c:pt>
                <c:pt idx="18">
                  <c:v>3.518</c:v>
                </c:pt>
                <c:pt idx="19">
                  <c:v>3.499</c:v>
                </c:pt>
                <c:pt idx="20">
                  <c:v>3.462</c:v>
                </c:pt>
                <c:pt idx="21">
                  <c:v>3.499</c:v>
                </c:pt>
                <c:pt idx="22">
                  <c:v>3.477</c:v>
                </c:pt>
                <c:pt idx="23">
                  <c:v>3.512</c:v>
                </c:pt>
                <c:pt idx="24">
                  <c:v>3.492</c:v>
                </c:pt>
                <c:pt idx="25">
                  <c:v>3.419</c:v>
                </c:pt>
                <c:pt idx="26">
                  <c:v>3.446</c:v>
                </c:pt>
                <c:pt idx="27">
                  <c:v>3.437</c:v>
                </c:pt>
                <c:pt idx="28">
                  <c:v>3.455</c:v>
                </c:pt>
                <c:pt idx="29">
                  <c:v>3.507</c:v>
                </c:pt>
                <c:pt idx="30">
                  <c:v>3.56</c:v>
                </c:pt>
                <c:pt idx="31">
                  <c:v>3.44</c:v>
                </c:pt>
                <c:pt idx="32">
                  <c:v>3.454</c:v>
                </c:pt>
                <c:pt idx="33">
                  <c:v>3.484</c:v>
                </c:pt>
                <c:pt idx="34">
                  <c:v>3.425</c:v>
                </c:pt>
                <c:pt idx="35">
                  <c:v>3.436</c:v>
                </c:pt>
                <c:pt idx="36">
                  <c:v>3.492</c:v>
                </c:pt>
                <c:pt idx="37">
                  <c:v>3.434</c:v>
                </c:pt>
                <c:pt idx="38">
                  <c:v>3.49</c:v>
                </c:pt>
                <c:pt idx="39">
                  <c:v>3.386</c:v>
                </c:pt>
                <c:pt idx="40">
                  <c:v>3.471</c:v>
                </c:pt>
                <c:pt idx="41">
                  <c:v>3.448</c:v>
                </c:pt>
                <c:pt idx="42">
                  <c:v>3.413</c:v>
                </c:pt>
                <c:pt idx="43">
                  <c:v>3.406</c:v>
                </c:pt>
                <c:pt idx="44">
                  <c:v>3.48</c:v>
                </c:pt>
                <c:pt idx="45">
                  <c:v>3.545</c:v>
                </c:pt>
                <c:pt idx="46">
                  <c:v>3.434</c:v>
                </c:pt>
                <c:pt idx="47">
                  <c:v>3.508</c:v>
                </c:pt>
                <c:pt idx="48">
                  <c:v>3.475</c:v>
                </c:pt>
                <c:pt idx="49">
                  <c:v>3.363</c:v>
                </c:pt>
                <c:pt idx="50">
                  <c:v>3.449</c:v>
                </c:pt>
                <c:pt idx="51">
                  <c:v>3.403</c:v>
                </c:pt>
                <c:pt idx="52">
                  <c:v>3.452</c:v>
                </c:pt>
                <c:pt idx="53">
                  <c:v>3.417</c:v>
                </c:pt>
                <c:pt idx="54">
                  <c:v>3.417</c:v>
                </c:pt>
                <c:pt idx="55">
                  <c:v>3.405</c:v>
                </c:pt>
                <c:pt idx="56">
                  <c:v>3.488</c:v>
                </c:pt>
                <c:pt idx="57">
                  <c:v>3.36</c:v>
                </c:pt>
                <c:pt idx="58">
                  <c:v>3.388</c:v>
                </c:pt>
                <c:pt idx="59">
                  <c:v>3.442</c:v>
                </c:pt>
                <c:pt idx="60">
                  <c:v>3.377</c:v>
                </c:pt>
                <c:pt idx="61">
                  <c:v>3.418</c:v>
                </c:pt>
                <c:pt idx="62">
                  <c:v>3.362</c:v>
                </c:pt>
                <c:pt idx="63">
                  <c:v>3.425</c:v>
                </c:pt>
                <c:pt idx="64">
                  <c:v>3.412</c:v>
                </c:pt>
                <c:pt idx="65">
                  <c:v>3.347</c:v>
                </c:pt>
                <c:pt idx="66">
                  <c:v>3.489</c:v>
                </c:pt>
                <c:pt idx="67">
                  <c:v>3.504</c:v>
                </c:pt>
                <c:pt idx="68">
                  <c:v>3.377</c:v>
                </c:pt>
                <c:pt idx="69">
                  <c:v>3.318</c:v>
                </c:pt>
                <c:pt idx="70">
                  <c:v>3.401</c:v>
                </c:pt>
                <c:pt idx="71">
                  <c:v>3.365</c:v>
                </c:pt>
                <c:pt idx="72">
                  <c:v>3.379</c:v>
                </c:pt>
                <c:pt idx="73">
                  <c:v>3.322</c:v>
                </c:pt>
                <c:pt idx="74">
                  <c:v>3.385</c:v>
                </c:pt>
                <c:pt idx="75">
                  <c:v>3.376</c:v>
                </c:pt>
                <c:pt idx="76">
                  <c:v>3.326</c:v>
                </c:pt>
                <c:pt idx="77">
                  <c:v>3.31</c:v>
                </c:pt>
                <c:pt idx="78">
                  <c:v>3.401</c:v>
                </c:pt>
                <c:pt idx="79">
                  <c:v>3.323</c:v>
                </c:pt>
                <c:pt idx="80">
                  <c:v>3.279</c:v>
                </c:pt>
                <c:pt idx="81">
                  <c:v>3.289</c:v>
                </c:pt>
                <c:pt idx="82">
                  <c:v>3.289</c:v>
                </c:pt>
                <c:pt idx="83">
                  <c:v>3.272</c:v>
                </c:pt>
                <c:pt idx="84">
                  <c:v>3.262</c:v>
                </c:pt>
                <c:pt idx="85">
                  <c:v>3.315</c:v>
                </c:pt>
                <c:pt idx="86">
                  <c:v>3.209</c:v>
                </c:pt>
                <c:pt idx="87">
                  <c:v>3.351</c:v>
                </c:pt>
                <c:pt idx="88">
                  <c:v>3.246</c:v>
                </c:pt>
                <c:pt idx="89">
                  <c:v>3.223</c:v>
                </c:pt>
                <c:pt idx="90">
                  <c:v>3.379</c:v>
                </c:pt>
                <c:pt idx="91">
                  <c:v>3.498</c:v>
                </c:pt>
                <c:pt idx="92">
                  <c:v>3.412</c:v>
                </c:pt>
                <c:pt idx="93">
                  <c:v>3.316</c:v>
                </c:pt>
                <c:pt idx="94">
                  <c:v>3.305</c:v>
                </c:pt>
                <c:pt idx="95">
                  <c:v>3.388</c:v>
                </c:pt>
                <c:pt idx="96">
                  <c:v>3.329</c:v>
                </c:pt>
                <c:pt idx="97">
                  <c:v>3.398</c:v>
                </c:pt>
                <c:pt idx="98">
                  <c:v>3.341</c:v>
                </c:pt>
                <c:pt idx="99">
                  <c:v>3.46</c:v>
                </c:pt>
                <c:pt idx="100">
                  <c:v>3.286</c:v>
                </c:pt>
                <c:pt idx="101">
                  <c:v>3.275</c:v>
                </c:pt>
                <c:pt idx="102">
                  <c:v>3.388</c:v>
                </c:pt>
                <c:pt idx="103">
                  <c:v>3.304</c:v>
                </c:pt>
                <c:pt idx="104">
                  <c:v>3.212</c:v>
                </c:pt>
                <c:pt idx="105">
                  <c:v>3.212</c:v>
                </c:pt>
                <c:pt idx="106">
                  <c:v>3.27</c:v>
                </c:pt>
                <c:pt idx="107">
                  <c:v>3.196</c:v>
                </c:pt>
                <c:pt idx="108">
                  <c:v>3.256</c:v>
                </c:pt>
                <c:pt idx="109">
                  <c:v>3.301</c:v>
                </c:pt>
                <c:pt idx="110">
                  <c:v>3.157</c:v>
                </c:pt>
                <c:pt idx="111">
                  <c:v>3.261</c:v>
                </c:pt>
                <c:pt idx="112">
                  <c:v>3.315</c:v>
                </c:pt>
                <c:pt idx="113">
                  <c:v>3.171</c:v>
                </c:pt>
                <c:pt idx="114">
                  <c:v>3.213</c:v>
                </c:pt>
                <c:pt idx="115">
                  <c:v>3.177</c:v>
                </c:pt>
                <c:pt idx="116">
                  <c:v>3.23</c:v>
                </c:pt>
                <c:pt idx="117">
                  <c:v>3.249</c:v>
                </c:pt>
                <c:pt idx="118">
                  <c:v>3.198</c:v>
                </c:pt>
                <c:pt idx="119">
                  <c:v>3.241</c:v>
                </c:pt>
                <c:pt idx="120">
                  <c:v>3.204</c:v>
                </c:pt>
                <c:pt idx="121">
                  <c:v>3.313</c:v>
                </c:pt>
                <c:pt idx="122">
                  <c:v>3.25</c:v>
                </c:pt>
                <c:pt idx="123">
                  <c:v>3.193</c:v>
                </c:pt>
                <c:pt idx="124">
                  <c:v>3.337</c:v>
                </c:pt>
                <c:pt idx="125">
                  <c:v>3.374</c:v>
                </c:pt>
                <c:pt idx="126">
                  <c:v>3.279</c:v>
                </c:pt>
                <c:pt idx="127">
                  <c:v>3.142</c:v>
                </c:pt>
                <c:pt idx="128">
                  <c:v>3.304</c:v>
                </c:pt>
                <c:pt idx="129">
                  <c:v>3.329</c:v>
                </c:pt>
                <c:pt idx="130">
                  <c:v>3.149</c:v>
                </c:pt>
                <c:pt idx="131">
                  <c:v>3.086</c:v>
                </c:pt>
                <c:pt idx="132">
                  <c:v>3.269</c:v>
                </c:pt>
                <c:pt idx="133">
                  <c:v>3.227</c:v>
                </c:pt>
                <c:pt idx="134">
                  <c:v>3.158</c:v>
                </c:pt>
                <c:pt idx="135">
                  <c:v>3.122</c:v>
                </c:pt>
                <c:pt idx="136">
                  <c:v>3.195</c:v>
                </c:pt>
                <c:pt idx="137">
                  <c:v>3.29</c:v>
                </c:pt>
                <c:pt idx="138">
                  <c:v>3.233</c:v>
                </c:pt>
                <c:pt idx="139">
                  <c:v>3.14</c:v>
                </c:pt>
                <c:pt idx="140">
                  <c:v>3.21</c:v>
                </c:pt>
                <c:pt idx="141">
                  <c:v>3.023</c:v>
                </c:pt>
                <c:pt idx="142">
                  <c:v>3.043</c:v>
                </c:pt>
                <c:pt idx="143">
                  <c:v>3.017</c:v>
                </c:pt>
                <c:pt idx="144">
                  <c:v>3.163</c:v>
                </c:pt>
                <c:pt idx="145">
                  <c:v>3.127</c:v>
                </c:pt>
                <c:pt idx="146">
                  <c:v>2.999</c:v>
                </c:pt>
                <c:pt idx="147">
                  <c:v>3.046</c:v>
                </c:pt>
                <c:pt idx="148">
                  <c:v>2.951</c:v>
                </c:pt>
                <c:pt idx="149">
                  <c:v>3.003</c:v>
                </c:pt>
                <c:pt idx="150">
                  <c:v>3.084</c:v>
                </c:pt>
                <c:pt idx="151">
                  <c:v>3.057</c:v>
                </c:pt>
                <c:pt idx="152">
                  <c:v>3.13</c:v>
                </c:pt>
                <c:pt idx="153">
                  <c:v>3.129</c:v>
                </c:pt>
                <c:pt idx="154">
                  <c:v>3.128</c:v>
                </c:pt>
                <c:pt idx="155">
                  <c:v>3.132</c:v>
                </c:pt>
                <c:pt idx="156">
                  <c:v>2.997</c:v>
                </c:pt>
                <c:pt idx="157">
                  <c:v>2.965</c:v>
                </c:pt>
                <c:pt idx="158">
                  <c:v>3.041</c:v>
                </c:pt>
                <c:pt idx="159">
                  <c:v>3.077</c:v>
                </c:pt>
                <c:pt idx="160">
                  <c:v>3.086</c:v>
                </c:pt>
                <c:pt idx="161">
                  <c:v>2.979</c:v>
                </c:pt>
                <c:pt idx="162">
                  <c:v>2.997</c:v>
                </c:pt>
                <c:pt idx="163">
                  <c:v>3.072</c:v>
                </c:pt>
                <c:pt idx="164">
                  <c:v>3.059</c:v>
                </c:pt>
                <c:pt idx="165">
                  <c:v>3.129</c:v>
                </c:pt>
                <c:pt idx="166">
                  <c:v>3.088</c:v>
                </c:pt>
                <c:pt idx="167">
                  <c:v>2.952</c:v>
                </c:pt>
                <c:pt idx="168">
                  <c:v>2.932</c:v>
                </c:pt>
                <c:pt idx="169">
                  <c:v>3.062</c:v>
                </c:pt>
                <c:pt idx="170">
                  <c:v>2.972</c:v>
                </c:pt>
                <c:pt idx="171">
                  <c:v>2.99</c:v>
                </c:pt>
                <c:pt idx="172">
                  <c:v>2.964</c:v>
                </c:pt>
                <c:pt idx="173">
                  <c:v>2.993</c:v>
                </c:pt>
                <c:pt idx="174">
                  <c:v>3.034</c:v>
                </c:pt>
                <c:pt idx="175">
                  <c:v>2.981</c:v>
                </c:pt>
                <c:pt idx="176">
                  <c:v>3.055</c:v>
                </c:pt>
                <c:pt idx="177">
                  <c:v>3.031</c:v>
                </c:pt>
                <c:pt idx="178">
                  <c:v>2.961</c:v>
                </c:pt>
                <c:pt idx="179">
                  <c:v>2.927</c:v>
                </c:pt>
                <c:pt idx="180">
                  <c:v>3.035</c:v>
                </c:pt>
                <c:pt idx="181">
                  <c:v>3.072</c:v>
                </c:pt>
                <c:pt idx="182">
                  <c:v>2.861</c:v>
                </c:pt>
                <c:pt idx="183">
                  <c:v>3.003</c:v>
                </c:pt>
                <c:pt idx="184">
                  <c:v>2.991</c:v>
                </c:pt>
                <c:pt idx="185">
                  <c:v>2.984</c:v>
                </c:pt>
                <c:pt idx="186">
                  <c:v>2.903</c:v>
                </c:pt>
                <c:pt idx="187">
                  <c:v>3</c:v>
                </c:pt>
                <c:pt idx="188">
                  <c:v>2.987</c:v>
                </c:pt>
                <c:pt idx="189">
                  <c:v>2.876</c:v>
                </c:pt>
                <c:pt idx="190">
                  <c:v>3.017</c:v>
                </c:pt>
                <c:pt idx="191">
                  <c:v>2.91</c:v>
                </c:pt>
                <c:pt idx="192">
                  <c:v>2.894</c:v>
                </c:pt>
                <c:pt idx="193">
                  <c:v>3.024</c:v>
                </c:pt>
                <c:pt idx="194">
                  <c:v>2.844</c:v>
                </c:pt>
                <c:pt idx="195">
                  <c:v>2.873</c:v>
                </c:pt>
                <c:pt idx="196">
                  <c:v>2.975</c:v>
                </c:pt>
                <c:pt idx="197">
                  <c:v>2.936</c:v>
                </c:pt>
                <c:pt idx="198">
                  <c:v>2.918</c:v>
                </c:pt>
                <c:pt idx="199">
                  <c:v>2.876</c:v>
                </c:pt>
                <c:pt idx="200">
                  <c:v>2.989</c:v>
                </c:pt>
                <c:pt idx="201">
                  <c:v>2.808</c:v>
                </c:pt>
                <c:pt idx="202">
                  <c:v>2.797</c:v>
                </c:pt>
                <c:pt idx="203">
                  <c:v>2.923</c:v>
                </c:pt>
                <c:pt idx="204">
                  <c:v>2.875</c:v>
                </c:pt>
                <c:pt idx="205">
                  <c:v>3.026</c:v>
                </c:pt>
                <c:pt idx="206">
                  <c:v>2.828</c:v>
                </c:pt>
                <c:pt idx="207">
                  <c:v>2.896</c:v>
                </c:pt>
                <c:pt idx="208">
                  <c:v>2.898</c:v>
                </c:pt>
                <c:pt idx="209">
                  <c:v>2.911</c:v>
                </c:pt>
                <c:pt idx="210">
                  <c:v>2.957</c:v>
                </c:pt>
                <c:pt idx="211">
                  <c:v>2.859</c:v>
                </c:pt>
                <c:pt idx="212">
                  <c:v>2.835</c:v>
                </c:pt>
                <c:pt idx="213">
                  <c:v>2.859</c:v>
                </c:pt>
                <c:pt idx="214">
                  <c:v>2.917</c:v>
                </c:pt>
                <c:pt idx="215">
                  <c:v>2.843</c:v>
                </c:pt>
                <c:pt idx="216">
                  <c:v>2.963</c:v>
                </c:pt>
                <c:pt idx="217">
                  <c:v>2.942</c:v>
                </c:pt>
                <c:pt idx="218">
                  <c:v>2.859</c:v>
                </c:pt>
                <c:pt idx="219">
                  <c:v>2.861</c:v>
                </c:pt>
                <c:pt idx="220">
                  <c:v>2.9</c:v>
                </c:pt>
                <c:pt idx="221">
                  <c:v>2.839</c:v>
                </c:pt>
                <c:pt idx="222">
                  <c:v>2.92</c:v>
                </c:pt>
                <c:pt idx="223">
                  <c:v>2.844</c:v>
                </c:pt>
                <c:pt idx="224">
                  <c:v>2.862</c:v>
                </c:pt>
                <c:pt idx="225">
                  <c:v>2.817</c:v>
                </c:pt>
                <c:pt idx="226">
                  <c:v>2.874</c:v>
                </c:pt>
                <c:pt idx="227">
                  <c:v>2.907</c:v>
                </c:pt>
                <c:pt idx="228">
                  <c:v>2.888</c:v>
                </c:pt>
                <c:pt idx="229">
                  <c:v>2.831</c:v>
                </c:pt>
                <c:pt idx="230">
                  <c:v>2.961</c:v>
                </c:pt>
                <c:pt idx="231">
                  <c:v>2.794</c:v>
                </c:pt>
                <c:pt idx="232">
                  <c:v>2.903</c:v>
                </c:pt>
                <c:pt idx="233">
                  <c:v>2.831</c:v>
                </c:pt>
                <c:pt idx="234">
                  <c:v>2.992</c:v>
                </c:pt>
                <c:pt idx="235">
                  <c:v>2.891</c:v>
                </c:pt>
                <c:pt idx="236">
                  <c:v>2.835</c:v>
                </c:pt>
                <c:pt idx="237">
                  <c:v>2.789</c:v>
                </c:pt>
                <c:pt idx="238">
                  <c:v>2.823</c:v>
                </c:pt>
                <c:pt idx="239">
                  <c:v>2.818</c:v>
                </c:pt>
                <c:pt idx="240">
                  <c:v>2.896</c:v>
                </c:pt>
                <c:pt idx="241">
                  <c:v>2.858</c:v>
                </c:pt>
                <c:pt idx="242">
                  <c:v>2.854</c:v>
                </c:pt>
                <c:pt idx="243">
                  <c:v>2.782</c:v>
                </c:pt>
                <c:pt idx="244">
                  <c:v>2.856</c:v>
                </c:pt>
                <c:pt idx="245">
                  <c:v>2.943</c:v>
                </c:pt>
                <c:pt idx="246">
                  <c:v>2.898</c:v>
                </c:pt>
                <c:pt idx="247">
                  <c:v>2.913</c:v>
                </c:pt>
                <c:pt idx="248">
                  <c:v>2.889</c:v>
                </c:pt>
                <c:pt idx="249">
                  <c:v>2.893</c:v>
                </c:pt>
              </c:numCache>
            </c:numRef>
          </c:yVal>
          <c:smooth val="0"/>
        </c:ser>
        <c:ser>
          <c:idx val="1"/>
          <c:order val="1"/>
          <c:tx>
            <c:strRef>
              <c:f>Sheet1!$C$1</c:f>
              <c:strCache>
                <c:ptCount val="1"/>
                <c:pt idx="0">
                  <c:v>patch vs sentence (on from step 50)</c:v>
                </c:pt>
              </c:strCache>
            </c:strRef>
          </c:tx>
          <c:spPr>
            <a:solidFill>
              <a:srgbClr val="EB6834"/>
            </a:solidFill>
            <a:ln w="31750" cap="flat">
              <a:solidFill>
                <a:srgbClr val="EB6834"/>
              </a:solidFill>
              <a:prstDash val="solid"/>
              <a:round/>
            </a:ln>
            <a:effectLst/>
          </c:spPr>
          <c:marker>
            <c:symbol val="none"/>
            <c:size val="6"/>
            <c:spPr>
              <a:solidFill>
                <a:srgbClr val="EB6834"/>
              </a:solidFill>
              <a:ln w="9525" cap="flat">
                <a:solidFill>
                  <a:srgbClr val="EB6834"/>
                </a:solidFill>
                <a:prstDash val="solid"/>
                <a:round/>
              </a:ln>
              <a:effectLst/>
            </c:spPr>
          </c:marker>
          <c:xVal>
            <c:numRef>
              <c:f>Sheet1!$A$2:$A$251</c:f>
              <c:numCache>
                <c:formatCode>General</c:formatCode>
                <c:ptCount val="2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numCache>
            </c:numRef>
          </c:xVal>
          <c:yVal>
            <c:numRef>
              <c:f>Sheet1!$C$2:$C$251</c:f>
              <c:numCache>
                <c:formatCode>General</c:formatCode>
                <c:ptCount val="25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3.5</c:v>
                </c:pt>
                <c:pt idx="51">
                  <c:v>3.496</c:v>
                </c:pt>
                <c:pt idx="52">
                  <c:v>3.475</c:v>
                </c:pt>
                <c:pt idx="53">
                  <c:v>3.449</c:v>
                </c:pt>
                <c:pt idx="54">
                  <c:v>3.494</c:v>
                </c:pt>
                <c:pt idx="55">
                  <c:v>3.459</c:v>
                </c:pt>
                <c:pt idx="56">
                  <c:v>3.466</c:v>
                </c:pt>
                <c:pt idx="57">
                  <c:v>3.47</c:v>
                </c:pt>
                <c:pt idx="58">
                  <c:v>3.457</c:v>
                </c:pt>
                <c:pt idx="59">
                  <c:v>3.478</c:v>
                </c:pt>
                <c:pt idx="60">
                  <c:v>3.466</c:v>
                </c:pt>
                <c:pt idx="61">
                  <c:v>3.476</c:v>
                </c:pt>
                <c:pt idx="62">
                  <c:v>3.474</c:v>
                </c:pt>
                <c:pt idx="63">
                  <c:v>3.474</c:v>
                </c:pt>
                <c:pt idx="64">
                  <c:v>3.475</c:v>
                </c:pt>
                <c:pt idx="65">
                  <c:v>3.443</c:v>
                </c:pt>
                <c:pt idx="66">
                  <c:v>3.452</c:v>
                </c:pt>
                <c:pt idx="67">
                  <c:v>3.458</c:v>
                </c:pt>
                <c:pt idx="68">
                  <c:v>3.442</c:v>
                </c:pt>
                <c:pt idx="69">
                  <c:v>3.439</c:v>
                </c:pt>
                <c:pt idx="70">
                  <c:v>3.466</c:v>
                </c:pt>
                <c:pt idx="71">
                  <c:v>3.442</c:v>
                </c:pt>
                <c:pt idx="72">
                  <c:v>3.442</c:v>
                </c:pt>
                <c:pt idx="73">
                  <c:v>3.449</c:v>
                </c:pt>
                <c:pt idx="74">
                  <c:v>3.458</c:v>
                </c:pt>
                <c:pt idx="75">
                  <c:v>3.428</c:v>
                </c:pt>
                <c:pt idx="76">
                  <c:v>3.428</c:v>
                </c:pt>
                <c:pt idx="77">
                  <c:v>3.408</c:v>
                </c:pt>
                <c:pt idx="78">
                  <c:v>3.436</c:v>
                </c:pt>
                <c:pt idx="79">
                  <c:v>3.425</c:v>
                </c:pt>
                <c:pt idx="80">
                  <c:v>3.405</c:v>
                </c:pt>
                <c:pt idx="81">
                  <c:v>3.403</c:v>
                </c:pt>
                <c:pt idx="82">
                  <c:v>3.389</c:v>
                </c:pt>
                <c:pt idx="83">
                  <c:v>3.38</c:v>
                </c:pt>
                <c:pt idx="84">
                  <c:v>3.373</c:v>
                </c:pt>
                <c:pt idx="85">
                  <c:v>3.343</c:v>
                </c:pt>
                <c:pt idx="86">
                  <c:v>3.341</c:v>
                </c:pt>
                <c:pt idx="87">
                  <c:v>3.429</c:v>
                </c:pt>
                <c:pt idx="88">
                  <c:v>3.334</c:v>
                </c:pt>
                <c:pt idx="89">
                  <c:v>3.299</c:v>
                </c:pt>
                <c:pt idx="90">
                  <c:v>3.364</c:v>
                </c:pt>
                <c:pt idx="91">
                  <c:v>3.406</c:v>
                </c:pt>
                <c:pt idx="92">
                  <c:v>3.419</c:v>
                </c:pt>
                <c:pt idx="93">
                  <c:v>3.355</c:v>
                </c:pt>
                <c:pt idx="94">
                  <c:v>3.358</c:v>
                </c:pt>
                <c:pt idx="95">
                  <c:v>3.383</c:v>
                </c:pt>
                <c:pt idx="96">
                  <c:v>3.374</c:v>
                </c:pt>
                <c:pt idx="97">
                  <c:v>3.407</c:v>
                </c:pt>
                <c:pt idx="98">
                  <c:v>3.367</c:v>
                </c:pt>
                <c:pt idx="99">
                  <c:v>3.413</c:v>
                </c:pt>
                <c:pt idx="100">
                  <c:v>3.372</c:v>
                </c:pt>
                <c:pt idx="101">
                  <c:v>3.298</c:v>
                </c:pt>
                <c:pt idx="102">
                  <c:v>3.403</c:v>
                </c:pt>
                <c:pt idx="103">
                  <c:v>3.337</c:v>
                </c:pt>
                <c:pt idx="104">
                  <c:v>3.237</c:v>
                </c:pt>
                <c:pt idx="105">
                  <c:v>3.24</c:v>
                </c:pt>
                <c:pt idx="106">
                  <c:v>3.306</c:v>
                </c:pt>
                <c:pt idx="107">
                  <c:v>3.217</c:v>
                </c:pt>
                <c:pt idx="108">
                  <c:v>3.247</c:v>
                </c:pt>
                <c:pt idx="109">
                  <c:v>3.287</c:v>
                </c:pt>
                <c:pt idx="110">
                  <c:v>3.167</c:v>
                </c:pt>
                <c:pt idx="111">
                  <c:v>3.198</c:v>
                </c:pt>
                <c:pt idx="112">
                  <c:v>3.285</c:v>
                </c:pt>
                <c:pt idx="113">
                  <c:v>3.16</c:v>
                </c:pt>
                <c:pt idx="114">
                  <c:v>3.206</c:v>
                </c:pt>
                <c:pt idx="115">
                  <c:v>3.243</c:v>
                </c:pt>
                <c:pt idx="116">
                  <c:v>3.222</c:v>
                </c:pt>
                <c:pt idx="117">
                  <c:v>3.266</c:v>
                </c:pt>
                <c:pt idx="118">
                  <c:v>3.139</c:v>
                </c:pt>
                <c:pt idx="119">
                  <c:v>3.22</c:v>
                </c:pt>
                <c:pt idx="120">
                  <c:v>3.164</c:v>
                </c:pt>
                <c:pt idx="121">
                  <c:v>3.287</c:v>
                </c:pt>
                <c:pt idx="122">
                  <c:v>3.266</c:v>
                </c:pt>
                <c:pt idx="123">
                  <c:v>3.129</c:v>
                </c:pt>
                <c:pt idx="124">
                  <c:v>3.304</c:v>
                </c:pt>
                <c:pt idx="125">
                  <c:v>3.385</c:v>
                </c:pt>
                <c:pt idx="126">
                  <c:v>3.292</c:v>
                </c:pt>
                <c:pt idx="127">
                  <c:v>3.128</c:v>
                </c:pt>
                <c:pt idx="128">
                  <c:v>3.275</c:v>
                </c:pt>
                <c:pt idx="129">
                  <c:v>3.25</c:v>
                </c:pt>
                <c:pt idx="130">
                  <c:v>3.128</c:v>
                </c:pt>
                <c:pt idx="131">
                  <c:v>3.07</c:v>
                </c:pt>
                <c:pt idx="132">
                  <c:v>3.211</c:v>
                </c:pt>
                <c:pt idx="133">
                  <c:v>3.187</c:v>
                </c:pt>
                <c:pt idx="134">
                  <c:v>3.084</c:v>
                </c:pt>
                <c:pt idx="135">
                  <c:v>3.107</c:v>
                </c:pt>
                <c:pt idx="136">
                  <c:v>3.16</c:v>
                </c:pt>
                <c:pt idx="137">
                  <c:v>3.203</c:v>
                </c:pt>
                <c:pt idx="138">
                  <c:v>3.12</c:v>
                </c:pt>
                <c:pt idx="139">
                  <c:v>3.08</c:v>
                </c:pt>
                <c:pt idx="140">
                  <c:v>3.181</c:v>
                </c:pt>
                <c:pt idx="141">
                  <c:v>3.035</c:v>
                </c:pt>
                <c:pt idx="142">
                  <c:v>2.982</c:v>
                </c:pt>
                <c:pt idx="143">
                  <c:v>2.909</c:v>
                </c:pt>
                <c:pt idx="144">
                  <c:v>3.091</c:v>
                </c:pt>
                <c:pt idx="145">
                  <c:v>3.11</c:v>
                </c:pt>
                <c:pt idx="146">
                  <c:v>2.963</c:v>
                </c:pt>
                <c:pt idx="147">
                  <c:v>2.997</c:v>
                </c:pt>
                <c:pt idx="148">
                  <c:v>2.891</c:v>
                </c:pt>
                <c:pt idx="149">
                  <c:v>2.903</c:v>
                </c:pt>
                <c:pt idx="150">
                  <c:v>3.035</c:v>
                </c:pt>
                <c:pt idx="151">
                  <c:v>2.979</c:v>
                </c:pt>
                <c:pt idx="152">
                  <c:v>3.071</c:v>
                </c:pt>
                <c:pt idx="153">
                  <c:v>2.997</c:v>
                </c:pt>
                <c:pt idx="154">
                  <c:v>3.056</c:v>
                </c:pt>
                <c:pt idx="155">
                  <c:v>2.938</c:v>
                </c:pt>
                <c:pt idx="156">
                  <c:v>2.916</c:v>
                </c:pt>
                <c:pt idx="157">
                  <c:v>2.96</c:v>
                </c:pt>
                <c:pt idx="158">
                  <c:v>2.915</c:v>
                </c:pt>
                <c:pt idx="159">
                  <c:v>2.922</c:v>
                </c:pt>
                <c:pt idx="160">
                  <c:v>2.907</c:v>
                </c:pt>
                <c:pt idx="161">
                  <c:v>2.857</c:v>
                </c:pt>
                <c:pt idx="162">
                  <c:v>2.953</c:v>
                </c:pt>
                <c:pt idx="163">
                  <c:v>2.914</c:v>
                </c:pt>
                <c:pt idx="164">
                  <c:v>2.926</c:v>
                </c:pt>
                <c:pt idx="165">
                  <c:v>2.932</c:v>
                </c:pt>
                <c:pt idx="166">
                  <c:v>2.969</c:v>
                </c:pt>
                <c:pt idx="167">
                  <c:v>2.851</c:v>
                </c:pt>
                <c:pt idx="168">
                  <c:v>2.778</c:v>
                </c:pt>
                <c:pt idx="169">
                  <c:v>2.842</c:v>
                </c:pt>
                <c:pt idx="170">
                  <c:v>2.87</c:v>
                </c:pt>
                <c:pt idx="171">
                  <c:v>2.807</c:v>
                </c:pt>
                <c:pt idx="172">
                  <c:v>2.824</c:v>
                </c:pt>
                <c:pt idx="173">
                  <c:v>2.894</c:v>
                </c:pt>
                <c:pt idx="174">
                  <c:v>2.882</c:v>
                </c:pt>
                <c:pt idx="175">
                  <c:v>2.918</c:v>
                </c:pt>
                <c:pt idx="176">
                  <c:v>2.844</c:v>
                </c:pt>
                <c:pt idx="177">
                  <c:v>2.79</c:v>
                </c:pt>
                <c:pt idx="178">
                  <c:v>2.796</c:v>
                </c:pt>
                <c:pt idx="179">
                  <c:v>2.842</c:v>
                </c:pt>
                <c:pt idx="180">
                  <c:v>2.96</c:v>
                </c:pt>
                <c:pt idx="181">
                  <c:v>2.832</c:v>
                </c:pt>
                <c:pt idx="182">
                  <c:v>2.744</c:v>
                </c:pt>
                <c:pt idx="183">
                  <c:v>2.745</c:v>
                </c:pt>
                <c:pt idx="184">
                  <c:v>2.746</c:v>
                </c:pt>
                <c:pt idx="185">
                  <c:v>2.85</c:v>
                </c:pt>
                <c:pt idx="186">
                  <c:v>2.764</c:v>
                </c:pt>
                <c:pt idx="187">
                  <c:v>2.827</c:v>
                </c:pt>
                <c:pt idx="188">
                  <c:v>2.754</c:v>
                </c:pt>
                <c:pt idx="189">
                  <c:v>2.736</c:v>
                </c:pt>
                <c:pt idx="190">
                  <c:v>2.863</c:v>
                </c:pt>
                <c:pt idx="191">
                  <c:v>2.675</c:v>
                </c:pt>
                <c:pt idx="192">
                  <c:v>2.763</c:v>
                </c:pt>
                <c:pt idx="193">
                  <c:v>2.885</c:v>
                </c:pt>
                <c:pt idx="194">
                  <c:v>2.748</c:v>
                </c:pt>
                <c:pt idx="195">
                  <c:v>2.704</c:v>
                </c:pt>
                <c:pt idx="196">
                  <c:v>2.686</c:v>
                </c:pt>
                <c:pt idx="197">
                  <c:v>2.76</c:v>
                </c:pt>
                <c:pt idx="198">
                  <c:v>2.851</c:v>
                </c:pt>
                <c:pt idx="199">
                  <c:v>2.709</c:v>
                </c:pt>
                <c:pt idx="200">
                  <c:v>2.726</c:v>
                </c:pt>
                <c:pt idx="201">
                  <c:v>2.706</c:v>
                </c:pt>
                <c:pt idx="202">
                  <c:v>2.775</c:v>
                </c:pt>
                <c:pt idx="203">
                  <c:v>2.762</c:v>
                </c:pt>
                <c:pt idx="204">
                  <c:v>2.711</c:v>
                </c:pt>
                <c:pt idx="205">
                  <c:v>2.78</c:v>
                </c:pt>
                <c:pt idx="206">
                  <c:v>2.673</c:v>
                </c:pt>
                <c:pt idx="207">
                  <c:v>2.657</c:v>
                </c:pt>
                <c:pt idx="208">
                  <c:v>2.666</c:v>
                </c:pt>
                <c:pt idx="209">
                  <c:v>2.681</c:v>
                </c:pt>
                <c:pt idx="210">
                  <c:v>2.8</c:v>
                </c:pt>
                <c:pt idx="211">
                  <c:v>2.713</c:v>
                </c:pt>
                <c:pt idx="212">
                  <c:v>2.602</c:v>
                </c:pt>
                <c:pt idx="213">
                  <c:v>2.762</c:v>
                </c:pt>
                <c:pt idx="214">
                  <c:v>2.797</c:v>
                </c:pt>
                <c:pt idx="215">
                  <c:v>2.674</c:v>
                </c:pt>
                <c:pt idx="216">
                  <c:v>2.673</c:v>
                </c:pt>
                <c:pt idx="217">
                  <c:v>2.702</c:v>
                </c:pt>
                <c:pt idx="218">
                  <c:v>2.682</c:v>
                </c:pt>
                <c:pt idx="219">
                  <c:v>2.608</c:v>
                </c:pt>
                <c:pt idx="220">
                  <c:v>2.717</c:v>
                </c:pt>
                <c:pt idx="221">
                  <c:v>2.583</c:v>
                </c:pt>
                <c:pt idx="222">
                  <c:v>2.786</c:v>
                </c:pt>
                <c:pt idx="223">
                  <c:v>2.621</c:v>
                </c:pt>
                <c:pt idx="224">
                  <c:v>2.636</c:v>
                </c:pt>
                <c:pt idx="225">
                  <c:v>2.669</c:v>
                </c:pt>
                <c:pt idx="226">
                  <c:v>2.641</c:v>
                </c:pt>
                <c:pt idx="227">
                  <c:v>2.7</c:v>
                </c:pt>
                <c:pt idx="228">
                  <c:v>2.655</c:v>
                </c:pt>
                <c:pt idx="229">
                  <c:v>2.589</c:v>
                </c:pt>
                <c:pt idx="230">
                  <c:v>2.7</c:v>
                </c:pt>
                <c:pt idx="231">
                  <c:v>2.607</c:v>
                </c:pt>
                <c:pt idx="232">
                  <c:v>2.764</c:v>
                </c:pt>
                <c:pt idx="233">
                  <c:v>2.685</c:v>
                </c:pt>
                <c:pt idx="234">
                  <c:v>2.727</c:v>
                </c:pt>
                <c:pt idx="235">
                  <c:v>2.751</c:v>
                </c:pt>
                <c:pt idx="236">
                  <c:v>2.758</c:v>
                </c:pt>
                <c:pt idx="237">
                  <c:v>2.637</c:v>
                </c:pt>
                <c:pt idx="238">
                  <c:v>2.543</c:v>
                </c:pt>
                <c:pt idx="239">
                  <c:v>2.582</c:v>
                </c:pt>
                <c:pt idx="240">
                  <c:v>2.686</c:v>
                </c:pt>
                <c:pt idx="241">
                  <c:v>2.608</c:v>
                </c:pt>
                <c:pt idx="242">
                  <c:v>2.714</c:v>
                </c:pt>
                <c:pt idx="243">
                  <c:v>2.613</c:v>
                </c:pt>
                <c:pt idx="244">
                  <c:v>2.703</c:v>
                </c:pt>
                <c:pt idx="245">
                  <c:v>2.747</c:v>
                </c:pt>
                <c:pt idx="246">
                  <c:v>2.667</c:v>
                </c:pt>
                <c:pt idx="247">
                  <c:v>2.636</c:v>
                </c:pt>
                <c:pt idx="248">
                  <c:v>2.7</c:v>
                </c:pt>
                <c:pt idx="249">
                  <c:v>2.699</c:v>
                </c:pt>
              </c:numCache>
            </c:numRef>
          </c:yVal>
          <c:smooth val="0"/>
        </c:ser>
        <c:ser>
          <c:idx val="2"/>
          <c:order val="2"/>
          <c:tx>
            <c:strRef>
              <c:f>Sheet1!$D$1</c:f>
              <c:strCache>
                <c:ptCount val="1"/>
                <c:pt idx="0">
                  <c:v>picture vs its own second view</c:v>
                </c:pt>
              </c:strCache>
            </c:strRef>
          </c:tx>
          <c:spPr>
            <a:solidFill>
              <a:srgbClr val="1BAF7A"/>
            </a:solidFill>
            <a:ln w="31750" cap="flat">
              <a:solidFill>
                <a:srgbClr val="1BAF7A"/>
              </a:solidFill>
              <a:prstDash val="solid"/>
              <a:round/>
            </a:ln>
            <a:effectLst/>
          </c:spPr>
          <c:marker>
            <c:symbol val="none"/>
            <c:size val="6"/>
            <c:spPr>
              <a:solidFill>
                <a:srgbClr val="1BAF7A"/>
              </a:solidFill>
              <a:ln w="9525" cap="flat">
                <a:solidFill>
                  <a:srgbClr val="1BAF7A"/>
                </a:solidFill>
                <a:prstDash val="solid"/>
                <a:round/>
              </a:ln>
              <a:effectLst/>
            </c:spPr>
          </c:marker>
          <c:xVal>
            <c:numRef>
              <c:f>Sheet1!$A$2:$A$251</c:f>
              <c:numCache>
                <c:formatCode>General</c:formatCode>
                <c:ptCount val="2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numCache>
            </c:numRef>
          </c:xVal>
          <c:yVal>
            <c:numRef>
              <c:f>Sheet1!$D$2:$D$251</c:f>
              <c:numCache>
                <c:formatCode>General</c:formatCode>
                <c:ptCount val="250"/>
                <c:pt idx="0">
                  <c:v>2.65</c:v>
                </c:pt>
                <c:pt idx="1">
                  <c:v>2.444</c:v>
                </c:pt>
                <c:pt idx="2">
                  <c:v>2.01</c:v>
                </c:pt>
                <c:pt idx="3">
                  <c:v>1.717</c:v>
                </c:pt>
                <c:pt idx="4">
                  <c:v>1.604</c:v>
                </c:pt>
                <c:pt idx="5">
                  <c:v>1.121</c:v>
                </c:pt>
                <c:pt idx="6">
                  <c:v>0.995</c:v>
                </c:pt>
                <c:pt idx="7">
                  <c:v>0.703</c:v>
                </c:pt>
                <c:pt idx="8">
                  <c:v>0.836</c:v>
                </c:pt>
                <c:pt idx="9">
                  <c:v>0.791</c:v>
                </c:pt>
                <c:pt idx="10">
                  <c:v>0.466</c:v>
                </c:pt>
                <c:pt idx="11">
                  <c:v>0.471</c:v>
                </c:pt>
                <c:pt idx="12">
                  <c:v>0.368</c:v>
                </c:pt>
                <c:pt idx="13">
                  <c:v>0.329</c:v>
                </c:pt>
                <c:pt idx="14">
                  <c:v>0.402</c:v>
                </c:pt>
                <c:pt idx="15">
                  <c:v>0.178</c:v>
                </c:pt>
                <c:pt idx="16">
                  <c:v>0.24</c:v>
                </c:pt>
                <c:pt idx="17">
                  <c:v>0.174</c:v>
                </c:pt>
                <c:pt idx="18">
                  <c:v>0.145</c:v>
                </c:pt>
                <c:pt idx="19">
                  <c:v>0.204</c:v>
                </c:pt>
                <c:pt idx="20">
                  <c:v>0.294</c:v>
                </c:pt>
                <c:pt idx="21">
                  <c:v>0.178</c:v>
                </c:pt>
                <c:pt idx="22">
                  <c:v>0.254</c:v>
                </c:pt>
                <c:pt idx="23">
                  <c:v>0.178</c:v>
                </c:pt>
                <c:pt idx="24">
                  <c:v>0.194</c:v>
                </c:pt>
                <c:pt idx="25">
                  <c:v>0.26</c:v>
                </c:pt>
                <c:pt idx="26">
                  <c:v>0.281</c:v>
                </c:pt>
                <c:pt idx="27">
                  <c:v>0.125</c:v>
                </c:pt>
                <c:pt idx="28">
                  <c:v>0.137</c:v>
                </c:pt>
                <c:pt idx="29">
                  <c:v>0.146</c:v>
                </c:pt>
                <c:pt idx="30">
                  <c:v>0.191</c:v>
                </c:pt>
                <c:pt idx="31">
                  <c:v>0.141</c:v>
                </c:pt>
                <c:pt idx="32">
                  <c:v>0.12</c:v>
                </c:pt>
                <c:pt idx="33">
                  <c:v>0.102</c:v>
                </c:pt>
                <c:pt idx="34">
                  <c:v>0.142</c:v>
                </c:pt>
                <c:pt idx="35">
                  <c:v>0.169</c:v>
                </c:pt>
                <c:pt idx="36">
                  <c:v>0.162</c:v>
                </c:pt>
                <c:pt idx="37">
                  <c:v>0.096</c:v>
                </c:pt>
                <c:pt idx="38">
                  <c:v>0.117</c:v>
                </c:pt>
                <c:pt idx="39">
                  <c:v>0.089</c:v>
                </c:pt>
                <c:pt idx="40">
                  <c:v>0.114</c:v>
                </c:pt>
                <c:pt idx="41">
                  <c:v>0.208</c:v>
                </c:pt>
                <c:pt idx="42">
                  <c:v>0.109</c:v>
                </c:pt>
                <c:pt idx="43">
                  <c:v>0.164</c:v>
                </c:pt>
                <c:pt idx="44">
                  <c:v>0.161</c:v>
                </c:pt>
                <c:pt idx="45">
                  <c:v>0.088</c:v>
                </c:pt>
                <c:pt idx="46">
                  <c:v>0.115</c:v>
                </c:pt>
                <c:pt idx="47">
                  <c:v>0.139</c:v>
                </c:pt>
                <c:pt idx="48">
                  <c:v>0.106</c:v>
                </c:pt>
                <c:pt idx="49">
                  <c:v>0.079</c:v>
                </c:pt>
                <c:pt idx="50">
                  <c:v>0.104</c:v>
                </c:pt>
                <c:pt idx="51">
                  <c:v>0.094</c:v>
                </c:pt>
                <c:pt idx="52">
                  <c:v>0.164</c:v>
                </c:pt>
                <c:pt idx="53">
                  <c:v>0.123</c:v>
                </c:pt>
                <c:pt idx="54">
                  <c:v>0.114</c:v>
                </c:pt>
                <c:pt idx="55">
                  <c:v>0.098</c:v>
                </c:pt>
                <c:pt idx="56">
                  <c:v>0.155</c:v>
                </c:pt>
                <c:pt idx="57">
                  <c:v>0.076</c:v>
                </c:pt>
                <c:pt idx="58">
                  <c:v>0.118</c:v>
                </c:pt>
                <c:pt idx="59">
                  <c:v>0.149</c:v>
                </c:pt>
                <c:pt idx="60">
                  <c:v>0.111</c:v>
                </c:pt>
                <c:pt idx="61">
                  <c:v>0.123</c:v>
                </c:pt>
                <c:pt idx="62">
                  <c:v>0.15</c:v>
                </c:pt>
                <c:pt idx="63">
                  <c:v>0.085</c:v>
                </c:pt>
                <c:pt idx="64">
                  <c:v>0.144</c:v>
                </c:pt>
                <c:pt idx="65">
                  <c:v>0.154</c:v>
                </c:pt>
                <c:pt idx="66">
                  <c:v>0.138</c:v>
                </c:pt>
                <c:pt idx="67">
                  <c:v>0.176</c:v>
                </c:pt>
                <c:pt idx="68">
                  <c:v>0.098</c:v>
                </c:pt>
                <c:pt idx="69">
                  <c:v>0.135</c:v>
                </c:pt>
                <c:pt idx="70">
                  <c:v>0.069</c:v>
                </c:pt>
                <c:pt idx="71">
                  <c:v>0.118</c:v>
                </c:pt>
                <c:pt idx="72">
                  <c:v>0.092</c:v>
                </c:pt>
                <c:pt idx="73">
                  <c:v>0.13</c:v>
                </c:pt>
                <c:pt idx="74">
                  <c:v>0.103</c:v>
                </c:pt>
                <c:pt idx="75">
                  <c:v>0.102</c:v>
                </c:pt>
                <c:pt idx="76">
                  <c:v>0.09</c:v>
                </c:pt>
                <c:pt idx="77">
                  <c:v>0.098</c:v>
                </c:pt>
                <c:pt idx="78">
                  <c:v>0.095</c:v>
                </c:pt>
                <c:pt idx="79">
                  <c:v>0.127</c:v>
                </c:pt>
                <c:pt idx="80">
                  <c:v>0.184</c:v>
                </c:pt>
                <c:pt idx="81">
                  <c:v>0.084</c:v>
                </c:pt>
                <c:pt idx="82">
                  <c:v>0.112</c:v>
                </c:pt>
                <c:pt idx="83">
                  <c:v>0.095</c:v>
                </c:pt>
                <c:pt idx="84">
                  <c:v>0.074</c:v>
                </c:pt>
                <c:pt idx="85">
                  <c:v>0.069</c:v>
                </c:pt>
                <c:pt idx="86">
                  <c:v>0.092</c:v>
                </c:pt>
                <c:pt idx="87">
                  <c:v>0.097</c:v>
                </c:pt>
                <c:pt idx="88">
                  <c:v>0.156</c:v>
                </c:pt>
                <c:pt idx="89">
                  <c:v>0.16</c:v>
                </c:pt>
                <c:pt idx="90">
                  <c:v>0.141</c:v>
                </c:pt>
                <c:pt idx="91">
                  <c:v>0.144</c:v>
                </c:pt>
                <c:pt idx="92">
                  <c:v>0.177</c:v>
                </c:pt>
                <c:pt idx="93">
                  <c:v>0.135</c:v>
                </c:pt>
                <c:pt idx="94">
                  <c:v>0.179</c:v>
                </c:pt>
                <c:pt idx="95">
                  <c:v>0.123</c:v>
                </c:pt>
                <c:pt idx="96">
                  <c:v>0.075</c:v>
                </c:pt>
                <c:pt idx="97">
                  <c:v>0.119</c:v>
                </c:pt>
                <c:pt idx="98">
                  <c:v>0.083</c:v>
                </c:pt>
                <c:pt idx="99">
                  <c:v>0.106</c:v>
                </c:pt>
                <c:pt idx="100">
                  <c:v>0.119</c:v>
                </c:pt>
                <c:pt idx="101">
                  <c:v>0.082</c:v>
                </c:pt>
                <c:pt idx="102">
                  <c:v>0.082</c:v>
                </c:pt>
                <c:pt idx="103">
                  <c:v>0.063</c:v>
                </c:pt>
                <c:pt idx="104">
                  <c:v>0.08</c:v>
                </c:pt>
                <c:pt idx="105">
                  <c:v>0.105</c:v>
                </c:pt>
                <c:pt idx="106">
                  <c:v>0.149</c:v>
                </c:pt>
                <c:pt idx="107">
                  <c:v>0.123</c:v>
                </c:pt>
                <c:pt idx="108">
                  <c:v>0.149</c:v>
                </c:pt>
                <c:pt idx="109">
                  <c:v>0.16</c:v>
                </c:pt>
                <c:pt idx="110">
                  <c:v>0.149</c:v>
                </c:pt>
                <c:pt idx="111">
                  <c:v>0.228</c:v>
                </c:pt>
                <c:pt idx="112">
                  <c:v>0.136</c:v>
                </c:pt>
                <c:pt idx="113">
                  <c:v>0.105</c:v>
                </c:pt>
                <c:pt idx="114">
                  <c:v>0.124</c:v>
                </c:pt>
                <c:pt idx="115">
                  <c:v>0.13</c:v>
                </c:pt>
                <c:pt idx="116">
                  <c:v>0.069</c:v>
                </c:pt>
                <c:pt idx="117">
                  <c:v>0.088</c:v>
                </c:pt>
                <c:pt idx="118">
                  <c:v>0.189</c:v>
                </c:pt>
                <c:pt idx="119">
                  <c:v>0.102</c:v>
                </c:pt>
                <c:pt idx="120">
                  <c:v>0.118</c:v>
                </c:pt>
                <c:pt idx="121">
                  <c:v>0.157</c:v>
                </c:pt>
                <c:pt idx="122">
                  <c:v>0.215</c:v>
                </c:pt>
                <c:pt idx="123">
                  <c:v>0.069</c:v>
                </c:pt>
                <c:pt idx="124">
                  <c:v>0.102</c:v>
                </c:pt>
                <c:pt idx="125">
                  <c:v>0.16</c:v>
                </c:pt>
                <c:pt idx="126">
                  <c:v>0.137</c:v>
                </c:pt>
                <c:pt idx="127">
                  <c:v>0.125</c:v>
                </c:pt>
                <c:pt idx="128">
                  <c:v>0.117</c:v>
                </c:pt>
                <c:pt idx="129">
                  <c:v>0.167</c:v>
                </c:pt>
                <c:pt idx="130">
                  <c:v>0.168</c:v>
                </c:pt>
                <c:pt idx="131">
                  <c:v>0.068</c:v>
                </c:pt>
                <c:pt idx="132">
                  <c:v>0.09</c:v>
                </c:pt>
                <c:pt idx="133">
                  <c:v>0.087</c:v>
                </c:pt>
                <c:pt idx="134">
                  <c:v>0.077</c:v>
                </c:pt>
                <c:pt idx="135">
                  <c:v>0.081</c:v>
                </c:pt>
                <c:pt idx="136">
                  <c:v>0.096</c:v>
                </c:pt>
                <c:pt idx="137">
                  <c:v>0.096</c:v>
                </c:pt>
                <c:pt idx="138">
                  <c:v>0.046</c:v>
                </c:pt>
                <c:pt idx="139">
                  <c:v>0.072</c:v>
                </c:pt>
                <c:pt idx="140">
                  <c:v>0.049</c:v>
                </c:pt>
                <c:pt idx="141">
                  <c:v>0.058</c:v>
                </c:pt>
                <c:pt idx="142">
                  <c:v>0.089</c:v>
                </c:pt>
                <c:pt idx="143">
                  <c:v>0.114</c:v>
                </c:pt>
                <c:pt idx="144">
                  <c:v>0.14</c:v>
                </c:pt>
                <c:pt idx="145">
                  <c:v>0.089</c:v>
                </c:pt>
                <c:pt idx="146">
                  <c:v>0.084</c:v>
                </c:pt>
                <c:pt idx="147">
                  <c:v>0.07</c:v>
                </c:pt>
                <c:pt idx="148">
                  <c:v>0.097</c:v>
                </c:pt>
                <c:pt idx="149">
                  <c:v>0.103</c:v>
                </c:pt>
                <c:pt idx="150">
                  <c:v>0.098</c:v>
                </c:pt>
                <c:pt idx="151">
                  <c:v>0.086</c:v>
                </c:pt>
                <c:pt idx="152">
                  <c:v>0.09</c:v>
                </c:pt>
                <c:pt idx="153">
                  <c:v>0.121</c:v>
                </c:pt>
                <c:pt idx="154">
                  <c:v>0.114</c:v>
                </c:pt>
                <c:pt idx="155">
                  <c:v>0.125</c:v>
                </c:pt>
                <c:pt idx="156">
                  <c:v>0.112</c:v>
                </c:pt>
                <c:pt idx="157">
                  <c:v>0.129</c:v>
                </c:pt>
                <c:pt idx="158">
                  <c:v>0.076</c:v>
                </c:pt>
                <c:pt idx="159">
                  <c:v>0.081</c:v>
                </c:pt>
                <c:pt idx="160">
                  <c:v>0.095</c:v>
                </c:pt>
                <c:pt idx="161">
                  <c:v>0.122</c:v>
                </c:pt>
                <c:pt idx="162">
                  <c:v>0.1</c:v>
                </c:pt>
                <c:pt idx="163">
                  <c:v>0.084</c:v>
                </c:pt>
                <c:pt idx="164">
                  <c:v>0.189</c:v>
                </c:pt>
                <c:pt idx="165">
                  <c:v>0.117</c:v>
                </c:pt>
                <c:pt idx="166">
                  <c:v>0.095</c:v>
                </c:pt>
                <c:pt idx="167">
                  <c:v>0.115</c:v>
                </c:pt>
                <c:pt idx="168">
                  <c:v>0.095</c:v>
                </c:pt>
                <c:pt idx="169">
                  <c:v>0.09</c:v>
                </c:pt>
                <c:pt idx="170">
                  <c:v>0.08</c:v>
                </c:pt>
                <c:pt idx="171">
                  <c:v>0.089</c:v>
                </c:pt>
                <c:pt idx="172">
                  <c:v>0.088</c:v>
                </c:pt>
                <c:pt idx="173">
                  <c:v>0.138</c:v>
                </c:pt>
                <c:pt idx="174">
                  <c:v>0.081</c:v>
                </c:pt>
                <c:pt idx="175">
                  <c:v>0.147</c:v>
                </c:pt>
                <c:pt idx="176">
                  <c:v>0.1</c:v>
                </c:pt>
                <c:pt idx="177">
                  <c:v>0.129</c:v>
                </c:pt>
                <c:pt idx="178">
                  <c:v>0.103</c:v>
                </c:pt>
                <c:pt idx="179">
                  <c:v>0.081</c:v>
                </c:pt>
                <c:pt idx="180">
                  <c:v>0.115</c:v>
                </c:pt>
                <c:pt idx="181">
                  <c:v>0.133</c:v>
                </c:pt>
                <c:pt idx="182">
                  <c:v>0.155</c:v>
                </c:pt>
                <c:pt idx="183">
                  <c:v>0.129</c:v>
                </c:pt>
                <c:pt idx="184">
                  <c:v>0.138</c:v>
                </c:pt>
                <c:pt idx="185">
                  <c:v>0.078</c:v>
                </c:pt>
                <c:pt idx="186">
                  <c:v>0.133</c:v>
                </c:pt>
                <c:pt idx="187">
                  <c:v>0.095</c:v>
                </c:pt>
                <c:pt idx="188">
                  <c:v>0.093</c:v>
                </c:pt>
                <c:pt idx="189">
                  <c:v>0.075</c:v>
                </c:pt>
                <c:pt idx="190">
                  <c:v>0.069</c:v>
                </c:pt>
                <c:pt idx="191">
                  <c:v>0.1</c:v>
                </c:pt>
                <c:pt idx="192">
                  <c:v>0.067</c:v>
                </c:pt>
                <c:pt idx="193">
                  <c:v>0.091</c:v>
                </c:pt>
                <c:pt idx="194">
                  <c:v>0.099</c:v>
                </c:pt>
                <c:pt idx="195">
                  <c:v>0.086</c:v>
                </c:pt>
                <c:pt idx="196">
                  <c:v>0.112</c:v>
                </c:pt>
                <c:pt idx="197">
                  <c:v>0.087</c:v>
                </c:pt>
                <c:pt idx="198">
                  <c:v>0.082</c:v>
                </c:pt>
                <c:pt idx="199">
                  <c:v>0.088</c:v>
                </c:pt>
                <c:pt idx="200">
                  <c:v>0.172</c:v>
                </c:pt>
                <c:pt idx="201">
                  <c:v>0.145</c:v>
                </c:pt>
                <c:pt idx="202">
                  <c:v>0.109</c:v>
                </c:pt>
                <c:pt idx="203">
                  <c:v>0.103</c:v>
                </c:pt>
                <c:pt idx="204">
                  <c:v>0.097</c:v>
                </c:pt>
                <c:pt idx="205">
                  <c:v>0.077</c:v>
                </c:pt>
                <c:pt idx="206">
                  <c:v>0.141</c:v>
                </c:pt>
                <c:pt idx="207">
                  <c:v>0.166</c:v>
                </c:pt>
                <c:pt idx="208">
                  <c:v>0.092</c:v>
                </c:pt>
                <c:pt idx="209">
                  <c:v>0.138</c:v>
                </c:pt>
                <c:pt idx="210">
                  <c:v>0.176</c:v>
                </c:pt>
                <c:pt idx="211">
                  <c:v>0.081</c:v>
                </c:pt>
                <c:pt idx="212">
                  <c:v>0.111</c:v>
                </c:pt>
                <c:pt idx="213">
                  <c:v>0.086</c:v>
                </c:pt>
                <c:pt idx="214">
                  <c:v>0.127</c:v>
                </c:pt>
                <c:pt idx="215">
                  <c:v>0.087</c:v>
                </c:pt>
                <c:pt idx="216">
                  <c:v>0.082</c:v>
                </c:pt>
                <c:pt idx="217">
                  <c:v>0.085</c:v>
                </c:pt>
                <c:pt idx="218">
                  <c:v>0.115</c:v>
                </c:pt>
                <c:pt idx="219">
                  <c:v>0.096</c:v>
                </c:pt>
                <c:pt idx="220">
                  <c:v>0.064</c:v>
                </c:pt>
                <c:pt idx="221">
                  <c:v>0.091</c:v>
                </c:pt>
                <c:pt idx="222">
                  <c:v>0.12</c:v>
                </c:pt>
                <c:pt idx="223">
                  <c:v>0.074</c:v>
                </c:pt>
                <c:pt idx="224">
                  <c:v>0.134</c:v>
                </c:pt>
                <c:pt idx="225">
                  <c:v>0.119</c:v>
                </c:pt>
                <c:pt idx="226">
                  <c:v>0.143</c:v>
                </c:pt>
                <c:pt idx="227">
                  <c:v>0.102</c:v>
                </c:pt>
                <c:pt idx="228">
                  <c:v>0.117</c:v>
                </c:pt>
                <c:pt idx="229">
                  <c:v>0.084</c:v>
                </c:pt>
                <c:pt idx="230">
                  <c:v>0.121</c:v>
                </c:pt>
                <c:pt idx="231">
                  <c:v>0.077</c:v>
                </c:pt>
                <c:pt idx="232">
                  <c:v>0.084</c:v>
                </c:pt>
                <c:pt idx="233">
                  <c:v>0.125</c:v>
                </c:pt>
                <c:pt idx="234">
                  <c:v>0.065</c:v>
                </c:pt>
                <c:pt idx="235">
                  <c:v>0.08</c:v>
                </c:pt>
                <c:pt idx="236">
                  <c:v>0.088</c:v>
                </c:pt>
                <c:pt idx="237">
                  <c:v>0.104</c:v>
                </c:pt>
                <c:pt idx="238">
                  <c:v>0.097</c:v>
                </c:pt>
                <c:pt idx="239">
                  <c:v>0.092</c:v>
                </c:pt>
                <c:pt idx="240">
                  <c:v>0.119</c:v>
                </c:pt>
                <c:pt idx="241">
                  <c:v>0.092</c:v>
                </c:pt>
                <c:pt idx="242">
                  <c:v>0.115</c:v>
                </c:pt>
                <c:pt idx="243">
                  <c:v>0.093</c:v>
                </c:pt>
                <c:pt idx="244">
                  <c:v>0.109</c:v>
                </c:pt>
                <c:pt idx="245">
                  <c:v>0.059</c:v>
                </c:pt>
                <c:pt idx="246">
                  <c:v>0.057</c:v>
                </c:pt>
                <c:pt idx="247">
                  <c:v>0.095</c:v>
                </c:pt>
                <c:pt idx="248">
                  <c:v>0.073</c:v>
                </c:pt>
                <c:pt idx="249">
                  <c:v>0.097</c:v>
                </c:pt>
              </c:numCache>
            </c:numRef>
          </c:yVal>
          <c:smooth val="0"/>
        </c:ser>
        <c:ser>
          <c:idx val="3"/>
          <c:order val="3"/>
          <c:tx>
            <c:strRef>
              <c:f>Sheet1!$E$1</c:f>
              <c:strCache>
                <c:ptCount val="1"/>
                <c:pt idx="0">
                  <c:v>random guessing, ln 32</c:v>
                </c:pt>
              </c:strCache>
            </c:strRef>
          </c:tx>
          <c:spPr>
            <a:solidFill>
              <a:srgbClr val="898781"/>
            </a:solidFill>
            <a:ln w="31750" cap="flat">
              <a:solidFill>
                <a:srgbClr val="898781"/>
              </a:solidFill>
              <a:prstDash val="solid"/>
              <a:round/>
            </a:ln>
            <a:effectLst/>
          </c:spPr>
          <c:marker>
            <c:symbol val="none"/>
            <c:size val="6"/>
            <c:spPr>
              <a:solidFill>
                <a:srgbClr val="898781"/>
              </a:solidFill>
              <a:ln w="9525" cap="flat">
                <a:solidFill>
                  <a:srgbClr val="898781"/>
                </a:solidFill>
                <a:prstDash val="solid"/>
                <a:round/>
              </a:ln>
              <a:effectLst/>
            </c:spPr>
          </c:marker>
          <c:xVal>
            <c:numRef>
              <c:f>Sheet1!$A$2:$A$251</c:f>
              <c:numCache>
                <c:formatCode>General</c:formatCode>
                <c:ptCount val="2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numCache>
            </c:numRef>
          </c:xVal>
          <c:yVal>
            <c:numRef>
              <c:f>Sheet1!$E$2:$E$251</c:f>
              <c:numCache>
                <c:formatCode>General</c:formatCode>
                <c:ptCount val="250"/>
                <c:pt idx="0">
                  <c:v>3.466</c:v>
                </c:pt>
                <c:pt idx="1">
                  <c:v>3.466</c:v>
                </c:pt>
                <c:pt idx="2">
                  <c:v>3.466</c:v>
                </c:pt>
                <c:pt idx="3">
                  <c:v>3.466</c:v>
                </c:pt>
                <c:pt idx="4">
                  <c:v>3.466</c:v>
                </c:pt>
                <c:pt idx="5">
                  <c:v>3.466</c:v>
                </c:pt>
                <c:pt idx="6">
                  <c:v>3.466</c:v>
                </c:pt>
                <c:pt idx="7">
                  <c:v>3.466</c:v>
                </c:pt>
                <c:pt idx="8">
                  <c:v>3.466</c:v>
                </c:pt>
                <c:pt idx="9">
                  <c:v>3.466</c:v>
                </c:pt>
                <c:pt idx="10">
                  <c:v>3.466</c:v>
                </c:pt>
                <c:pt idx="11">
                  <c:v>3.466</c:v>
                </c:pt>
                <c:pt idx="12">
                  <c:v>3.466</c:v>
                </c:pt>
                <c:pt idx="13">
                  <c:v>3.466</c:v>
                </c:pt>
                <c:pt idx="14">
                  <c:v>3.466</c:v>
                </c:pt>
                <c:pt idx="15">
                  <c:v>3.466</c:v>
                </c:pt>
                <c:pt idx="16">
                  <c:v>3.466</c:v>
                </c:pt>
                <c:pt idx="17">
                  <c:v>3.466</c:v>
                </c:pt>
                <c:pt idx="18">
                  <c:v>3.466</c:v>
                </c:pt>
                <c:pt idx="19">
                  <c:v>3.466</c:v>
                </c:pt>
                <c:pt idx="20">
                  <c:v>3.466</c:v>
                </c:pt>
                <c:pt idx="21">
                  <c:v>3.466</c:v>
                </c:pt>
                <c:pt idx="22">
                  <c:v>3.466</c:v>
                </c:pt>
                <c:pt idx="23">
                  <c:v>3.466</c:v>
                </c:pt>
                <c:pt idx="24">
                  <c:v>3.466</c:v>
                </c:pt>
                <c:pt idx="25">
                  <c:v>3.466</c:v>
                </c:pt>
                <c:pt idx="26">
                  <c:v>3.466</c:v>
                </c:pt>
                <c:pt idx="27">
                  <c:v>3.466</c:v>
                </c:pt>
                <c:pt idx="28">
                  <c:v>3.466</c:v>
                </c:pt>
                <c:pt idx="29">
                  <c:v>3.466</c:v>
                </c:pt>
                <c:pt idx="30">
                  <c:v>3.466</c:v>
                </c:pt>
                <c:pt idx="31">
                  <c:v>3.466</c:v>
                </c:pt>
                <c:pt idx="32">
                  <c:v>3.466</c:v>
                </c:pt>
                <c:pt idx="33">
                  <c:v>3.466</c:v>
                </c:pt>
                <c:pt idx="34">
                  <c:v>3.466</c:v>
                </c:pt>
                <c:pt idx="35">
                  <c:v>3.466</c:v>
                </c:pt>
                <c:pt idx="36">
                  <c:v>3.466</c:v>
                </c:pt>
                <c:pt idx="37">
                  <c:v>3.466</c:v>
                </c:pt>
                <c:pt idx="38">
                  <c:v>3.466</c:v>
                </c:pt>
                <c:pt idx="39">
                  <c:v>3.466</c:v>
                </c:pt>
                <c:pt idx="40">
                  <c:v>3.466</c:v>
                </c:pt>
                <c:pt idx="41">
                  <c:v>3.466</c:v>
                </c:pt>
                <c:pt idx="42">
                  <c:v>3.466</c:v>
                </c:pt>
                <c:pt idx="43">
                  <c:v>3.466</c:v>
                </c:pt>
                <c:pt idx="44">
                  <c:v>3.466</c:v>
                </c:pt>
                <c:pt idx="45">
                  <c:v>3.466</c:v>
                </c:pt>
                <c:pt idx="46">
                  <c:v>3.466</c:v>
                </c:pt>
                <c:pt idx="47">
                  <c:v>3.466</c:v>
                </c:pt>
                <c:pt idx="48">
                  <c:v>3.466</c:v>
                </c:pt>
                <c:pt idx="49">
                  <c:v>3.466</c:v>
                </c:pt>
                <c:pt idx="50">
                  <c:v>3.466</c:v>
                </c:pt>
                <c:pt idx="51">
                  <c:v>3.466</c:v>
                </c:pt>
                <c:pt idx="52">
                  <c:v>3.466</c:v>
                </c:pt>
                <c:pt idx="53">
                  <c:v>3.466</c:v>
                </c:pt>
                <c:pt idx="54">
                  <c:v>3.466</c:v>
                </c:pt>
                <c:pt idx="55">
                  <c:v>3.466</c:v>
                </c:pt>
                <c:pt idx="56">
                  <c:v>3.466</c:v>
                </c:pt>
                <c:pt idx="57">
                  <c:v>3.466</c:v>
                </c:pt>
                <c:pt idx="58">
                  <c:v>3.466</c:v>
                </c:pt>
                <c:pt idx="59">
                  <c:v>3.466</c:v>
                </c:pt>
                <c:pt idx="60">
                  <c:v>3.466</c:v>
                </c:pt>
                <c:pt idx="61">
                  <c:v>3.466</c:v>
                </c:pt>
                <c:pt idx="62">
                  <c:v>3.466</c:v>
                </c:pt>
                <c:pt idx="63">
                  <c:v>3.466</c:v>
                </c:pt>
                <c:pt idx="64">
                  <c:v>3.466</c:v>
                </c:pt>
                <c:pt idx="65">
                  <c:v>3.466</c:v>
                </c:pt>
                <c:pt idx="66">
                  <c:v>3.466</c:v>
                </c:pt>
                <c:pt idx="67">
                  <c:v>3.466</c:v>
                </c:pt>
                <c:pt idx="68">
                  <c:v>3.466</c:v>
                </c:pt>
                <c:pt idx="69">
                  <c:v>3.466</c:v>
                </c:pt>
                <c:pt idx="70">
                  <c:v>3.466</c:v>
                </c:pt>
                <c:pt idx="71">
                  <c:v>3.466</c:v>
                </c:pt>
                <c:pt idx="72">
                  <c:v>3.466</c:v>
                </c:pt>
                <c:pt idx="73">
                  <c:v>3.466</c:v>
                </c:pt>
                <c:pt idx="74">
                  <c:v>3.466</c:v>
                </c:pt>
                <c:pt idx="75">
                  <c:v>3.466</c:v>
                </c:pt>
                <c:pt idx="76">
                  <c:v>3.466</c:v>
                </c:pt>
                <c:pt idx="77">
                  <c:v>3.466</c:v>
                </c:pt>
                <c:pt idx="78">
                  <c:v>3.466</c:v>
                </c:pt>
                <c:pt idx="79">
                  <c:v>3.466</c:v>
                </c:pt>
                <c:pt idx="80">
                  <c:v>3.466</c:v>
                </c:pt>
                <c:pt idx="81">
                  <c:v>3.466</c:v>
                </c:pt>
                <c:pt idx="82">
                  <c:v>3.466</c:v>
                </c:pt>
                <c:pt idx="83">
                  <c:v>3.466</c:v>
                </c:pt>
                <c:pt idx="84">
                  <c:v>3.466</c:v>
                </c:pt>
                <c:pt idx="85">
                  <c:v>3.466</c:v>
                </c:pt>
                <c:pt idx="86">
                  <c:v>3.466</c:v>
                </c:pt>
                <c:pt idx="87">
                  <c:v>3.466</c:v>
                </c:pt>
                <c:pt idx="88">
                  <c:v>3.466</c:v>
                </c:pt>
                <c:pt idx="89">
                  <c:v>3.466</c:v>
                </c:pt>
                <c:pt idx="90">
                  <c:v>3.466</c:v>
                </c:pt>
                <c:pt idx="91">
                  <c:v>3.466</c:v>
                </c:pt>
                <c:pt idx="92">
                  <c:v>3.466</c:v>
                </c:pt>
                <c:pt idx="93">
                  <c:v>3.466</c:v>
                </c:pt>
                <c:pt idx="94">
                  <c:v>3.466</c:v>
                </c:pt>
                <c:pt idx="95">
                  <c:v>3.466</c:v>
                </c:pt>
                <c:pt idx="96">
                  <c:v>3.466</c:v>
                </c:pt>
                <c:pt idx="97">
                  <c:v>3.466</c:v>
                </c:pt>
                <c:pt idx="98">
                  <c:v>3.466</c:v>
                </c:pt>
                <c:pt idx="99">
                  <c:v>3.466</c:v>
                </c:pt>
                <c:pt idx="100">
                  <c:v>3.466</c:v>
                </c:pt>
                <c:pt idx="101">
                  <c:v>3.466</c:v>
                </c:pt>
                <c:pt idx="102">
                  <c:v>3.466</c:v>
                </c:pt>
                <c:pt idx="103">
                  <c:v>3.466</c:v>
                </c:pt>
                <c:pt idx="104">
                  <c:v>3.466</c:v>
                </c:pt>
                <c:pt idx="105">
                  <c:v>3.466</c:v>
                </c:pt>
                <c:pt idx="106">
                  <c:v>3.466</c:v>
                </c:pt>
                <c:pt idx="107">
                  <c:v>3.466</c:v>
                </c:pt>
                <c:pt idx="108">
                  <c:v>3.466</c:v>
                </c:pt>
                <c:pt idx="109">
                  <c:v>3.466</c:v>
                </c:pt>
                <c:pt idx="110">
                  <c:v>3.466</c:v>
                </c:pt>
                <c:pt idx="111">
                  <c:v>3.466</c:v>
                </c:pt>
                <c:pt idx="112">
                  <c:v>3.466</c:v>
                </c:pt>
                <c:pt idx="113">
                  <c:v>3.466</c:v>
                </c:pt>
                <c:pt idx="114">
                  <c:v>3.466</c:v>
                </c:pt>
                <c:pt idx="115">
                  <c:v>3.466</c:v>
                </c:pt>
                <c:pt idx="116">
                  <c:v>3.466</c:v>
                </c:pt>
                <c:pt idx="117">
                  <c:v>3.466</c:v>
                </c:pt>
                <c:pt idx="118">
                  <c:v>3.466</c:v>
                </c:pt>
                <c:pt idx="119">
                  <c:v>3.466</c:v>
                </c:pt>
                <c:pt idx="120">
                  <c:v>3.466</c:v>
                </c:pt>
                <c:pt idx="121">
                  <c:v>3.466</c:v>
                </c:pt>
                <c:pt idx="122">
                  <c:v>3.466</c:v>
                </c:pt>
                <c:pt idx="123">
                  <c:v>3.466</c:v>
                </c:pt>
                <c:pt idx="124">
                  <c:v>3.466</c:v>
                </c:pt>
                <c:pt idx="125">
                  <c:v>3.466</c:v>
                </c:pt>
                <c:pt idx="126">
                  <c:v>3.466</c:v>
                </c:pt>
                <c:pt idx="127">
                  <c:v>3.466</c:v>
                </c:pt>
                <c:pt idx="128">
                  <c:v>3.466</c:v>
                </c:pt>
                <c:pt idx="129">
                  <c:v>3.466</c:v>
                </c:pt>
                <c:pt idx="130">
                  <c:v>3.466</c:v>
                </c:pt>
                <c:pt idx="131">
                  <c:v>3.466</c:v>
                </c:pt>
                <c:pt idx="132">
                  <c:v>3.466</c:v>
                </c:pt>
                <c:pt idx="133">
                  <c:v>3.466</c:v>
                </c:pt>
                <c:pt idx="134">
                  <c:v>3.466</c:v>
                </c:pt>
                <c:pt idx="135">
                  <c:v>3.466</c:v>
                </c:pt>
                <c:pt idx="136">
                  <c:v>3.466</c:v>
                </c:pt>
                <c:pt idx="137">
                  <c:v>3.466</c:v>
                </c:pt>
                <c:pt idx="138">
                  <c:v>3.466</c:v>
                </c:pt>
                <c:pt idx="139">
                  <c:v>3.466</c:v>
                </c:pt>
                <c:pt idx="140">
                  <c:v>3.466</c:v>
                </c:pt>
                <c:pt idx="141">
                  <c:v>3.466</c:v>
                </c:pt>
                <c:pt idx="142">
                  <c:v>3.466</c:v>
                </c:pt>
                <c:pt idx="143">
                  <c:v>3.466</c:v>
                </c:pt>
                <c:pt idx="144">
                  <c:v>3.466</c:v>
                </c:pt>
                <c:pt idx="145">
                  <c:v>3.466</c:v>
                </c:pt>
                <c:pt idx="146">
                  <c:v>3.466</c:v>
                </c:pt>
                <c:pt idx="147">
                  <c:v>3.466</c:v>
                </c:pt>
                <c:pt idx="148">
                  <c:v>3.466</c:v>
                </c:pt>
                <c:pt idx="149">
                  <c:v>3.466</c:v>
                </c:pt>
                <c:pt idx="150">
                  <c:v>3.466</c:v>
                </c:pt>
                <c:pt idx="151">
                  <c:v>3.466</c:v>
                </c:pt>
                <c:pt idx="152">
                  <c:v>3.466</c:v>
                </c:pt>
                <c:pt idx="153">
                  <c:v>3.466</c:v>
                </c:pt>
                <c:pt idx="154">
                  <c:v>3.466</c:v>
                </c:pt>
                <c:pt idx="155">
                  <c:v>3.466</c:v>
                </c:pt>
                <c:pt idx="156">
                  <c:v>3.466</c:v>
                </c:pt>
                <c:pt idx="157">
                  <c:v>3.466</c:v>
                </c:pt>
                <c:pt idx="158">
                  <c:v>3.466</c:v>
                </c:pt>
                <c:pt idx="159">
                  <c:v>3.466</c:v>
                </c:pt>
                <c:pt idx="160">
                  <c:v>3.466</c:v>
                </c:pt>
                <c:pt idx="161">
                  <c:v>3.466</c:v>
                </c:pt>
                <c:pt idx="162">
                  <c:v>3.466</c:v>
                </c:pt>
                <c:pt idx="163">
                  <c:v>3.466</c:v>
                </c:pt>
                <c:pt idx="164">
                  <c:v>3.466</c:v>
                </c:pt>
                <c:pt idx="165">
                  <c:v>3.466</c:v>
                </c:pt>
                <c:pt idx="166">
                  <c:v>3.466</c:v>
                </c:pt>
                <c:pt idx="167">
                  <c:v>3.466</c:v>
                </c:pt>
                <c:pt idx="168">
                  <c:v>3.466</c:v>
                </c:pt>
                <c:pt idx="169">
                  <c:v>3.466</c:v>
                </c:pt>
                <c:pt idx="170">
                  <c:v>3.466</c:v>
                </c:pt>
                <c:pt idx="171">
                  <c:v>3.466</c:v>
                </c:pt>
                <c:pt idx="172">
                  <c:v>3.466</c:v>
                </c:pt>
                <c:pt idx="173">
                  <c:v>3.466</c:v>
                </c:pt>
                <c:pt idx="174">
                  <c:v>3.466</c:v>
                </c:pt>
                <c:pt idx="175">
                  <c:v>3.466</c:v>
                </c:pt>
                <c:pt idx="176">
                  <c:v>3.466</c:v>
                </c:pt>
                <c:pt idx="177">
                  <c:v>3.466</c:v>
                </c:pt>
                <c:pt idx="178">
                  <c:v>3.466</c:v>
                </c:pt>
                <c:pt idx="179">
                  <c:v>3.466</c:v>
                </c:pt>
                <c:pt idx="180">
                  <c:v>3.466</c:v>
                </c:pt>
                <c:pt idx="181">
                  <c:v>3.466</c:v>
                </c:pt>
                <c:pt idx="182">
                  <c:v>3.466</c:v>
                </c:pt>
                <c:pt idx="183">
                  <c:v>3.466</c:v>
                </c:pt>
                <c:pt idx="184">
                  <c:v>3.466</c:v>
                </c:pt>
                <c:pt idx="185">
                  <c:v>3.466</c:v>
                </c:pt>
                <c:pt idx="186">
                  <c:v>3.466</c:v>
                </c:pt>
                <c:pt idx="187">
                  <c:v>3.466</c:v>
                </c:pt>
                <c:pt idx="188">
                  <c:v>3.466</c:v>
                </c:pt>
                <c:pt idx="189">
                  <c:v>3.466</c:v>
                </c:pt>
                <c:pt idx="190">
                  <c:v>3.466</c:v>
                </c:pt>
                <c:pt idx="191">
                  <c:v>3.466</c:v>
                </c:pt>
                <c:pt idx="192">
                  <c:v>3.466</c:v>
                </c:pt>
                <c:pt idx="193">
                  <c:v>3.466</c:v>
                </c:pt>
                <c:pt idx="194">
                  <c:v>3.466</c:v>
                </c:pt>
                <c:pt idx="195">
                  <c:v>3.466</c:v>
                </c:pt>
                <c:pt idx="196">
                  <c:v>3.466</c:v>
                </c:pt>
                <c:pt idx="197">
                  <c:v>3.466</c:v>
                </c:pt>
                <c:pt idx="198">
                  <c:v>3.466</c:v>
                </c:pt>
                <c:pt idx="199">
                  <c:v>3.466</c:v>
                </c:pt>
                <c:pt idx="200">
                  <c:v>3.466</c:v>
                </c:pt>
                <c:pt idx="201">
                  <c:v>3.466</c:v>
                </c:pt>
                <c:pt idx="202">
                  <c:v>3.466</c:v>
                </c:pt>
                <c:pt idx="203">
                  <c:v>3.466</c:v>
                </c:pt>
                <c:pt idx="204">
                  <c:v>3.466</c:v>
                </c:pt>
                <c:pt idx="205">
                  <c:v>3.466</c:v>
                </c:pt>
                <c:pt idx="206">
                  <c:v>3.466</c:v>
                </c:pt>
                <c:pt idx="207">
                  <c:v>3.466</c:v>
                </c:pt>
                <c:pt idx="208">
                  <c:v>3.466</c:v>
                </c:pt>
                <c:pt idx="209">
                  <c:v>3.466</c:v>
                </c:pt>
                <c:pt idx="210">
                  <c:v>3.466</c:v>
                </c:pt>
                <c:pt idx="211">
                  <c:v>3.466</c:v>
                </c:pt>
                <c:pt idx="212">
                  <c:v>3.466</c:v>
                </c:pt>
                <c:pt idx="213">
                  <c:v>3.466</c:v>
                </c:pt>
                <c:pt idx="214">
                  <c:v>3.466</c:v>
                </c:pt>
                <c:pt idx="215">
                  <c:v>3.466</c:v>
                </c:pt>
                <c:pt idx="216">
                  <c:v>3.466</c:v>
                </c:pt>
                <c:pt idx="217">
                  <c:v>3.466</c:v>
                </c:pt>
                <c:pt idx="218">
                  <c:v>3.466</c:v>
                </c:pt>
                <c:pt idx="219">
                  <c:v>3.466</c:v>
                </c:pt>
                <c:pt idx="220">
                  <c:v>3.466</c:v>
                </c:pt>
                <c:pt idx="221">
                  <c:v>3.466</c:v>
                </c:pt>
                <c:pt idx="222">
                  <c:v>3.466</c:v>
                </c:pt>
                <c:pt idx="223">
                  <c:v>3.466</c:v>
                </c:pt>
                <c:pt idx="224">
                  <c:v>3.466</c:v>
                </c:pt>
                <c:pt idx="225">
                  <c:v>3.466</c:v>
                </c:pt>
                <c:pt idx="226">
                  <c:v>3.466</c:v>
                </c:pt>
                <c:pt idx="227">
                  <c:v>3.466</c:v>
                </c:pt>
                <c:pt idx="228">
                  <c:v>3.466</c:v>
                </c:pt>
                <c:pt idx="229">
                  <c:v>3.466</c:v>
                </c:pt>
                <c:pt idx="230">
                  <c:v>3.466</c:v>
                </c:pt>
                <c:pt idx="231">
                  <c:v>3.466</c:v>
                </c:pt>
                <c:pt idx="232">
                  <c:v>3.466</c:v>
                </c:pt>
                <c:pt idx="233">
                  <c:v>3.466</c:v>
                </c:pt>
                <c:pt idx="234">
                  <c:v>3.466</c:v>
                </c:pt>
                <c:pt idx="235">
                  <c:v>3.466</c:v>
                </c:pt>
                <c:pt idx="236">
                  <c:v>3.466</c:v>
                </c:pt>
                <c:pt idx="237">
                  <c:v>3.466</c:v>
                </c:pt>
                <c:pt idx="238">
                  <c:v>3.466</c:v>
                </c:pt>
                <c:pt idx="239">
                  <c:v>3.466</c:v>
                </c:pt>
                <c:pt idx="240">
                  <c:v>3.466</c:v>
                </c:pt>
                <c:pt idx="241">
                  <c:v>3.466</c:v>
                </c:pt>
                <c:pt idx="242">
                  <c:v>3.466</c:v>
                </c:pt>
                <c:pt idx="243">
                  <c:v>3.466</c:v>
                </c:pt>
                <c:pt idx="244">
                  <c:v>3.466</c:v>
                </c:pt>
                <c:pt idx="245">
                  <c:v>3.466</c:v>
                </c:pt>
                <c:pt idx="246">
                  <c:v>3.466</c:v>
                </c:pt>
                <c:pt idx="247">
                  <c:v>3.466</c:v>
                </c:pt>
                <c:pt idx="248">
                  <c:v>3.466</c:v>
                </c:pt>
                <c:pt idx="249">
                  <c:v>3.466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50"/>
          <c:min val="0"/>
        </c:scaling>
        <c:delete val="0"/>
        <c:axPos val="b"/>
        <c:title>
          <c:tx>
            <c:rich>
              <a:bodyPr/>
              <a:lstStyle/>
              <a:p>
                <a:pPr>
                  <a:defRPr sz="2000" b="0" i="0" u="none" strike="noStrike">
                    <a:solidFill>
                      <a:srgbClr val="52514E"/>
                    </a:solidFill>
                    <a:latin typeface="Arial"/>
                  </a:defRPr>
                </a:pPr>
                <a:r>
                  <a:rPr sz="2000" b="0" i="0" u="none" strike="noStrike">
                    <a:solidFill>
                      <a:srgbClr val="52514E"/>
                    </a:solidFill>
                    <a:latin typeface="Arial"/>
                  </a:rPr>
                  <a:t>training step</a:t>
                </a:r>
              </a:p>
            </c:rich>
          </c:tx>
          <c:layout/>
          <c:overlay val="0"/>
        </c:title>
        <c:numFmt formatCode="General" sourceLinked="1"/>
        <c:majorTickMark val="none"/>
        <c:minorTickMark val="none"/>
        <c:tickLblPos val="nextTo"/>
        <c:spPr>
          <a:ln w="12700" cap="flat">
            <a:noFill/>
            <a:prstDash val="solid"/>
            <a:round/>
          </a:ln>
        </c:spPr>
        <c:txPr>
          <a:bodyPr/>
          <a:lstStyle/>
          <a:p>
            <a:pPr>
              <a:defRPr sz="2200" b="0" i="0" u="none" strike="noStrike">
                <a:solidFill>
                  <a:srgbClr val="52514E"/>
                </a:solidFill>
                <a:latin typeface="Arial"/>
              </a:defRPr>
            </a:pPr>
            <a:endParaRPr lang="en-US"/>
          </a:p>
        </c:txPr>
        <c:crossAx val="2094734552"/>
        <c:crosses val="autoZero"/>
        <c:auto val="1"/>
        <c:lblAlgn val="ctr"/>
        <c:noMultiLvlLbl val="1"/>
        <c:majorUnit val="50"/>
      </c:valAx>
      <c:valAx>
        <c:axId val="2094734552"/>
        <c:scaling>
          <c:orientation val="minMax"/>
          <c:max val="4"/>
          <c:min val="0"/>
        </c:scaling>
        <c:delete val="0"/>
        <c:axPos val="l"/>
        <c:majorGridlines>
          <c:spPr>
            <a:ln w="12700" cap="flat">
              <a:solidFill>
                <a:srgbClr val="E1E0D9"/>
              </a:solidFill>
              <a:prstDash val="solid"/>
              <a:round/>
            </a:ln>
          </c:spPr>
        </c:majorGridlines>
        <c:title>
          <c:tx>
            <c:rich>
              <a:bodyPr/>
              <a:lstStyle/>
              <a:p>
                <a:pPr>
                  <a:defRPr sz="2000" b="0" i="0" u="none" strike="noStrike">
                    <a:solidFill>
                      <a:srgbClr val="52514E"/>
                    </a:solidFill>
                    <a:latin typeface="Arial"/>
                  </a:defRPr>
                </a:pPr>
                <a:r>
                  <a:rPr sz="2000" b="0" i="0" u="none" strike="noStrike">
                    <a:solidFill>
                      <a:srgbClr val="52514E"/>
                    </a:solidFill>
                    <a:latin typeface="Arial"/>
                  </a:rPr>
                  <a:t>loss</a:t>
                </a:r>
              </a:p>
            </c:rich>
          </c:tx>
          <c:layout/>
          <c:overlay val="0"/>
        </c:title>
        <c:numFmt formatCode="General" sourceLinked="0"/>
        <c:majorTickMark val="none"/>
        <c:minorTickMark val="none"/>
        <c:tickLblPos val="nextTo"/>
        <c:spPr>
          <a:ln w="12700" cap="flat">
            <a:noFill/>
            <a:prstDash val="solid"/>
            <a:round/>
          </a:ln>
        </c:spPr>
        <c:txPr>
          <a:bodyPr/>
          <a:lstStyle/>
          <a:p>
            <a:pPr>
              <a:defRPr sz="2200" b="0" i="0" u="none" strike="noStrike">
                <a:solidFill>
                  <a:srgbClr val="52514E"/>
                </a:solidFill>
                <a:latin typeface="Arial"/>
              </a:defRPr>
            </a:pPr>
            <a:endParaRPr lang="en-US"/>
          </a:p>
        </c:txPr>
        <c:crossAx val="2094734554"/>
        <c:crosses val="autoZero"/>
        <c:crossBetween val="midCat"/>
        <c:majorUnit val="1"/>
      </c:valAx>
      <c:spPr>
        <a:solidFill>
          <a:srgbClr val="EEF1F6"/>
        </a:solidFill>
        <a:ln>
          <a:noFill/>
        </a:ln>
        <a:effectLst/>
      </c:spPr>
    </c:plotArea>
    <c:legend>
      <c:legendPos val="b"/>
      <c:overlay val="0"/>
      <c:txPr>
        <a:bodyPr/>
        <a:lstStyle/>
        <a:p>
          <a:pPr>
            <a:defRPr sz="2000">
              <a:solidFill>
                <a:srgbClr val="1B2A41"/>
              </a:solidFill>
              <a:latin typeface="Arial"/>
              <a:cs typeface="Arial"/>
            </a:defRPr>
          </a:pPr>
          <a:endParaRPr lang="en-US"/>
        </a:p>
      </c:txPr>
    </c:legend>
    <c:plotVisOnly val="1"/>
    <c:dispBlanksAs val="span"/>
    <c:showDLblsOverMax val="1"/>
  </c:chart>
  <c:spPr>
    <a:solidFill>
      <a:srgbClr val="EEF1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score</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1BAF7A"/>
              </a:solidFill>
              <a:effectLst/>
            </c:spPr>
          </c:dPt>
          <c:dPt>
            <c:idx val="2"/>
            <c:invertIfNegative val="0"/>
            <c:bubble3D val="0"/>
            <c:spPr>
              <a:solidFill>
                <a:srgbClr val="1BAF7A"/>
              </a:solidFill>
              <a:effectLst/>
            </c:spPr>
          </c:dPt>
          <c:dPt>
            <c:idx val="3"/>
            <c:invertIfNegative val="0"/>
            <c:bubble3D val="0"/>
            <c:spPr>
              <a:solidFill>
                <a:srgbClr val="1BAF7A"/>
              </a:solidFill>
              <a:effectLst/>
            </c:spPr>
          </c:dPt>
          <c:dPt>
            <c:idx val="4"/>
            <c:invertIfNegative val="0"/>
            <c:bubble3D val="0"/>
            <c:spPr>
              <a:solidFill>
                <a:srgbClr val="1BAF7A"/>
              </a:solidFill>
              <a:effectLst/>
            </c:spPr>
          </c:dPt>
          <c:dPt>
            <c:idx val="5"/>
            <c:invertIfNegative val="0"/>
            <c:bubble3D val="0"/>
            <c:spPr>
              <a:solidFill>
                <a:srgbClr val="EB6834"/>
              </a:solidFill>
              <a:effectLst/>
            </c:spPr>
          </c:dPt>
          <c:dPt>
            <c:idx val="6"/>
            <c:invertIfNegative val="0"/>
            <c:bubble3D val="0"/>
            <c:spPr>
              <a:solidFill>
                <a:srgbClr val="EB6834"/>
              </a:solidFill>
              <a:effectLst/>
            </c:spPr>
          </c:dPt>
          <c:dPt>
            <c:idx val="7"/>
            <c:invertIfNegative val="0"/>
            <c:bubble3D val="0"/>
            <c:spPr>
              <a:solidFill>
                <a:srgbClr val="EB6834"/>
              </a:solidFill>
              <a:effectLst/>
            </c:spPr>
          </c:dPt>
          <c:dPt>
            <c:idx val="8"/>
            <c:invertIfNegative val="0"/>
            <c:bubble3D val="0"/>
            <c:spPr>
              <a:solidFill>
                <a:srgbClr val="EB6834"/>
              </a:solidFill>
              <a:effectLst/>
            </c:spPr>
          </c:dPt>
          <c:dPt>
            <c:idx val="9"/>
            <c:invertIfNegative val="0"/>
            <c:bubble3D val="0"/>
            <c:spPr>
              <a:solidFill>
                <a:srgbClr val="EB6834"/>
              </a:solidFill>
              <a:effectLst/>
            </c:spPr>
          </c:dPt>
          <c:cat>
            <c:multiLvlStrRef>
              <c:f>Sheet1!$A$2:$A$11</c:f>
              <c:multiLvlStrCache>
                <c:ptCount val="10"/>
                <c:lvl>
                  <c:pt idx="0">
                    <c:v>50003</c:v>
                  </c:pt>
                  <c:pt idx="1">
                    <c:v>50004</c:v>
                  </c:pt>
                  <c:pt idx="2">
                    <c:v>50005</c:v>
                  </c:pt>
                  <c:pt idx="3">
                    <c:v>50006</c:v>
                  </c:pt>
                  <c:pt idx="4">
                    <c:v>50007</c:v>
                  </c:pt>
                  <c:pt idx="5">
                    <c:v>50030</c:v>
                  </c:pt>
                  <c:pt idx="6">
                    <c:v>50031</c:v>
                  </c:pt>
                  <c:pt idx="7">
                    <c:v>50032</c:v>
                  </c:pt>
                  <c:pt idx="8">
                    <c:v>50033</c:v>
                  </c:pt>
                  <c:pt idx="9">
                    <c:v>50034</c:v>
                  </c:pt>
                </c:lvl>
              </c:multiLvlStrCache>
            </c:multiLvlStrRef>
          </c:cat>
          <c:val>
            <c:numRef>
              <c:f>Sheet1!$B$2:$B$11</c:f>
              <c:numCache>
                <c:formatCode>General</c:formatCode>
                <c:ptCount val="10"/>
                <c:pt idx="0">
                  <c:v>0.65</c:v>
                </c:pt>
                <c:pt idx="1">
                  <c:v>0.26</c:v>
                </c:pt>
                <c:pt idx="2">
                  <c:v>0.4</c:v>
                </c:pt>
                <c:pt idx="3">
                  <c:v>0.31</c:v>
                </c:pt>
                <c:pt idx="4">
                  <c:v>0.43</c:v>
                </c:pt>
                <c:pt idx="5">
                  <c:v>-0.93</c:v>
                </c:pt>
                <c:pt idx="6">
                  <c:v>-0.75</c:v>
                </c:pt>
                <c:pt idx="7">
                  <c:v>-1.01</c:v>
                </c:pt>
                <c:pt idx="8">
                  <c:v>-1.07</c:v>
                </c:pt>
                <c:pt idx="9">
                  <c:v>-0.99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8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max val="0.8"/>
          <c:min val="-1.2"/>
        </c:scaling>
        <c:delete val="0"/>
        <c:axPos val="l"/>
        <c:majorGridlines>
          <c:spPr>
            <a:ln w="12700"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800" b="0" i="0" u="none" strike="noStrike">
                <a:solidFill>
                  <a:srgbClr val="52514E"/>
                </a:solidFill>
                <a:latin typeface="Arial"/>
              </a:defRPr>
            </a:pPr>
            <a:endParaRPr lang="en-US"/>
          </a:p>
        </c:txPr>
        <c:crossAx val="2094734554"/>
        <c:crosses val="autoZero"/>
        <c:crossBetween val="between"/>
        <c:majorUnit val="0.4"/>
      </c:valAx>
      <c:spPr>
        <a:solidFill>
          <a:srgbClr val="EEF1F6"/>
        </a:solidFill>
        <a:ln>
          <a:noFill/>
        </a:ln>
        <a:effectLst/>
      </c:spPr>
    </c:plotArea>
    <c:plotVisOnly val="1"/>
    <c:dispBlanksAs val="span"/>
  </c:chart>
  <c:spPr>
    <a:solidFill>
      <a:srgbClr val="EEF1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block"/>
          <p:cNvSpPr/>
          <p:nvPr/>
        </p:nvSpPr>
        <p:spPr>
          <a:xfrm>
            <a:off x="822960" y="822960"/>
            <a:ext cx="28629864" cy="5394960"/>
          </a:xfrm>
          <a:prstGeom prst="roundRect">
            <a:avLst>
              <a:gd name="adj" fmla="val 5932"/>
            </a:avLst>
          </a:prstGeom>
          <a:solidFill>
            <a:srgbClr val="1B2A41"/>
          </a:solidFill>
          <a:ln w="12700">
            <a:solidFill>
              <a:srgbClr val="1B2A41"/>
            </a:solidFill>
            <a:prstDash val="solid"/>
          </a:ln>
        </p:spPr>
      </p:sp>
      <p:sp>
        <p:nvSpPr>
          <p:cNvPr id="3" name="Text 1"/>
          <p:cNvSpPr txBox="1"/>
          <p:nvPr/>
        </p:nvSpPr>
        <p:spPr>
          <a:xfrm>
            <a:off x="1463040" y="1188720"/>
            <a:ext cx="27349704" cy="2926080"/>
          </a:xfrm>
          <a:prstGeom prst="rect">
            <a:avLst/>
          </a:prstGeom>
          <a:noFill/>
          <a:ln/>
        </p:spPr>
        <p:txBody>
          <a:bodyPr wrap="square" lIns="0" tIns="0" rIns="0" bIns="0" rtlCol="0" anchor="ctr"/>
          <a:lstStyle/>
          <a:p>
            <a:pPr algn="l" indent="0" marL="0">
              <a:buNone/>
            </a:pPr>
            <a:r>
              <a:rPr lang="en-US" sz="9200" b="1" dirty="0">
                <a:solidFill>
                  <a:srgbClr val="FFFFFF"/>
                </a:solidFill>
                <a:latin typeface="Arial" pitchFamily="34" charset="0"/>
                <a:ea typeface="Arial" pitchFamily="34" charset="-122"/>
                <a:cs typeface="Arial" pitchFamily="34" charset="-120"/>
              </a:rPr>
              <a:t>Can a computer tell autism</a:t>
            </a:r>
            <a:endParaRPr lang="en-US" sz="9200" dirty="0"/>
          </a:p>
          <a:p>
            <a:pPr algn="l" indent="0" marL="0">
              <a:buNone/>
            </a:pPr>
            <a:r>
              <a:rPr lang="en-US" sz="9200" b="1" dirty="0">
                <a:solidFill>
                  <a:srgbClr val="FFFFFF"/>
                </a:solidFill>
                <a:latin typeface="Arial" pitchFamily="34" charset="0"/>
                <a:ea typeface="Arial" pitchFamily="34" charset="-122"/>
                <a:cs typeface="Arial" pitchFamily="34" charset="-120"/>
              </a:rPr>
              <a:t>from a resting brain scan?</a:t>
            </a:r>
            <a:endParaRPr lang="en-US" sz="9200" dirty="0"/>
          </a:p>
        </p:txBody>
      </p:sp>
      <p:sp>
        <p:nvSpPr>
          <p:cNvPr id="4" name="Text 2"/>
          <p:cNvSpPr txBox="1"/>
          <p:nvPr/>
        </p:nvSpPr>
        <p:spPr>
          <a:xfrm>
            <a:off x="1463040" y="4251960"/>
            <a:ext cx="27349704" cy="822960"/>
          </a:xfrm>
          <a:prstGeom prst="rect">
            <a:avLst/>
          </a:prstGeom>
          <a:noFill/>
          <a:ln/>
        </p:spPr>
        <p:txBody>
          <a:bodyPr wrap="square" lIns="0" tIns="0" rIns="0" bIns="0" rtlCol="0" anchor="t"/>
          <a:lstStyle/>
          <a:p>
            <a:pPr algn="l" indent="0" marL="0">
              <a:buNone/>
            </a:pPr>
            <a:r>
              <a:rPr lang="en-US" sz="3600" dirty="0">
                <a:solidFill>
                  <a:srgbClr val="CADCFC"/>
                </a:solidFill>
                <a:latin typeface="Arial" pitchFamily="34" charset="0"/>
                <a:ea typeface="Arial" pitchFamily="34" charset="-122"/>
                <a:cs typeface="Arial" pitchFamily="34" charset="-120"/>
              </a:rPr>
              <a:t>Replicating a brain-connectivity classifier and testing a picture-and-text model on ABIDE, 871 people scanned at 20 sites</a:t>
            </a:r>
            <a:endParaRPr lang="en-US" sz="3600" dirty="0"/>
          </a:p>
        </p:txBody>
      </p:sp>
      <p:sp>
        <p:nvSpPr>
          <p:cNvPr id="5" name="Text 3"/>
          <p:cNvSpPr txBox="1"/>
          <p:nvPr/>
        </p:nvSpPr>
        <p:spPr>
          <a:xfrm>
            <a:off x="1463040" y="5166360"/>
            <a:ext cx="27349704" cy="731520"/>
          </a:xfrm>
          <a:prstGeom prst="rect">
            <a:avLst/>
          </a:prstGeom>
          <a:noFill/>
          <a:ln/>
        </p:spPr>
        <p:txBody>
          <a:bodyPr wrap="square" lIns="0" tIns="0" rIns="0" bIns="0" rtlCol="0" anchor="t"/>
          <a:lstStyle/>
          <a:p>
            <a:pPr algn="l" indent="0" marL="0">
              <a:buNone/>
            </a:pPr>
            <a:r>
              <a:rPr lang="en-US" sz="3000" dirty="0">
                <a:solidFill>
                  <a:srgbClr val="FFFFFF"/>
                </a:solidFill>
                <a:latin typeface="Arial" pitchFamily="34" charset="0"/>
                <a:ea typeface="Arial" pitchFamily="34" charset="-122"/>
                <a:cs typeface="Arial" pitchFamily="34" charset="-120"/>
              </a:rPr>
              <a:t>Tamilore Bolodeoku  |  Yale University  |  github.com/Tamibolo01/abide-replication</a:t>
            </a:r>
            <a:endParaRPr lang="en-US" sz="3000" dirty="0"/>
          </a:p>
        </p:txBody>
      </p:sp>
      <p:sp>
        <p:nvSpPr>
          <p:cNvPr id="6" name="the question"/>
          <p:cNvSpPr/>
          <p:nvPr/>
        </p:nvSpPr>
        <p:spPr>
          <a:xfrm>
            <a:off x="822960" y="6766560"/>
            <a:ext cx="9177528" cy="9326880"/>
          </a:xfrm>
          <a:prstGeom prst="roundRect">
            <a:avLst>
              <a:gd name="adj" fmla="val 3487"/>
            </a:avLst>
          </a:prstGeom>
          <a:solidFill>
            <a:srgbClr val="EEF1F6"/>
          </a:solidFill>
          <a:ln w="12700">
            <a:solidFill>
              <a:srgbClr val="EEF1F6"/>
            </a:solidFill>
            <a:prstDash val="solid"/>
          </a:ln>
        </p:spPr>
      </p:sp>
      <p:sp>
        <p:nvSpPr>
          <p:cNvPr id="7" name="Text 5"/>
          <p:cNvSpPr txBox="1"/>
          <p:nvPr/>
        </p:nvSpPr>
        <p:spPr>
          <a:xfrm>
            <a:off x="1234440" y="7178040"/>
            <a:ext cx="8354568" cy="73152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The question</a:t>
            </a:r>
            <a:endParaRPr lang="en-US" sz="4400" dirty="0"/>
          </a:p>
        </p:txBody>
      </p:sp>
      <p:sp>
        <p:nvSpPr>
          <p:cNvPr id="8" name="Text 6"/>
          <p:cNvSpPr txBox="1"/>
          <p:nvPr/>
        </p:nvSpPr>
        <p:spPr>
          <a:xfrm>
            <a:off x="1234440" y="8138160"/>
            <a:ext cx="8354568" cy="5120640"/>
          </a:xfrm>
          <a:prstGeom prst="rect">
            <a:avLst/>
          </a:prstGeom>
          <a:noFill/>
          <a:ln/>
        </p:spPr>
        <p:txBody>
          <a:bodyPr wrap="square" lIns="0" tIns="0" rIns="0" bIns="0" rtlCol="0" anchor="t"/>
          <a:lstStyle/>
          <a:p>
            <a:pPr algn="l" indent="0" marL="0">
              <a:lnSpc>
                <a:spcPct val="115000"/>
              </a:lnSpc>
              <a:buNone/>
            </a:pPr>
            <a:r>
              <a:rPr lang="en-US" sz="2600" dirty="0">
                <a:solidFill>
                  <a:srgbClr val="1B2A41"/>
                </a:solidFill>
                <a:latin typeface="Arial" pitchFamily="34" charset="0"/>
                <a:ea typeface="Arial" pitchFamily="34" charset="-122"/>
                <a:cs typeface="Arial" pitchFamily="34" charset="-120"/>
              </a:rPr>
              <a:t>Resting-state fMRI records how the blood-oxygen signal rises and falls across the brain while a person lies still for a few minutes. ABIDE is a public collection of such scans, about half from people with an autism diagnosis.</a:t>
            </a:r>
            <a:endParaRPr lang="en-US" sz="2600" dirty="0"/>
          </a:p>
          <a:p>
            <a:pPr algn="l" indent="0" marL="0">
              <a:lnSpc>
                <a:spcPct val="115000"/>
              </a:lnSpc>
              <a:buNone/>
            </a:pPr>
            <a:endParaRPr lang="en-US" sz="2600" dirty="0"/>
          </a:p>
          <a:p>
            <a:pPr algn="l" indent="0" marL="0">
              <a:lnSpc>
                <a:spcPct val="115000"/>
              </a:lnSpc>
              <a:buNone/>
            </a:pPr>
            <a:r>
              <a:rPr lang="en-US" sz="2600" dirty="0">
                <a:solidFill>
                  <a:srgbClr val="1B2A41"/>
                </a:solidFill>
                <a:latin typeface="Arial" pitchFamily="34" charset="0"/>
                <a:ea typeface="Arial" pitchFamily="34" charset="-122"/>
                <a:cs typeface="Arial" pitchFamily="34" charset="-120"/>
              </a:rPr>
              <a:t>Can a computer learn, from the scans alone, who has the diagnosis? And does what it learns still work at a hospital it has never seen?</a:t>
            </a:r>
            <a:endParaRPr lang="en-US" sz="2600" dirty="0"/>
          </a:p>
        </p:txBody>
      </p:sp>
      <p:sp>
        <p:nvSpPr>
          <p:cNvPr id="9" name="Text 7"/>
          <p:cNvSpPr txBox="1"/>
          <p:nvPr/>
        </p:nvSpPr>
        <p:spPr>
          <a:xfrm>
            <a:off x="1234440" y="13624560"/>
            <a:ext cx="2784856" cy="1005840"/>
          </a:xfrm>
          <a:prstGeom prst="rect">
            <a:avLst/>
          </a:prstGeom>
          <a:noFill/>
          <a:ln/>
        </p:spPr>
        <p:txBody>
          <a:bodyPr wrap="square" lIns="0" tIns="0" rIns="0" bIns="0" rtlCol="0" anchor="b"/>
          <a:lstStyle/>
          <a:p>
            <a:pPr algn="ctr" indent="0" marL="0">
              <a:buNone/>
            </a:pPr>
            <a:r>
              <a:rPr lang="en-US" sz="6400" b="1" dirty="0">
                <a:solidFill>
                  <a:srgbClr val="2A78D6"/>
                </a:solidFill>
                <a:latin typeface="Arial" pitchFamily="34" charset="0"/>
                <a:ea typeface="Arial" pitchFamily="34" charset="-122"/>
                <a:cs typeface="Arial" pitchFamily="34" charset="-120"/>
              </a:rPr>
              <a:t>871</a:t>
            </a:r>
            <a:endParaRPr lang="en-US" sz="6400" dirty="0"/>
          </a:p>
        </p:txBody>
      </p:sp>
      <p:sp>
        <p:nvSpPr>
          <p:cNvPr id="10" name="Text 8"/>
          <p:cNvSpPr txBox="1"/>
          <p:nvPr/>
        </p:nvSpPr>
        <p:spPr>
          <a:xfrm>
            <a:off x="1234440" y="1467612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people scanned</a:t>
            </a:r>
            <a:endParaRPr lang="en-US" sz="2200" dirty="0"/>
          </a:p>
        </p:txBody>
      </p:sp>
      <p:sp>
        <p:nvSpPr>
          <p:cNvPr id="11" name="Text 9"/>
          <p:cNvSpPr txBox="1"/>
          <p:nvPr/>
        </p:nvSpPr>
        <p:spPr>
          <a:xfrm>
            <a:off x="4019296" y="13624560"/>
            <a:ext cx="2784856" cy="1005840"/>
          </a:xfrm>
          <a:prstGeom prst="rect">
            <a:avLst/>
          </a:prstGeom>
          <a:noFill/>
          <a:ln/>
        </p:spPr>
        <p:txBody>
          <a:bodyPr wrap="square" lIns="0" tIns="0" rIns="0" bIns="0" rtlCol="0" anchor="b"/>
          <a:lstStyle/>
          <a:p>
            <a:pPr algn="ctr" indent="0" marL="0">
              <a:buNone/>
            </a:pPr>
            <a:r>
              <a:rPr lang="en-US" sz="6400" b="1" dirty="0">
                <a:solidFill>
                  <a:srgbClr val="2A78D6"/>
                </a:solidFill>
                <a:latin typeface="Arial" pitchFamily="34" charset="0"/>
                <a:ea typeface="Arial" pitchFamily="34" charset="-122"/>
                <a:cs typeface="Arial" pitchFamily="34" charset="-120"/>
              </a:rPr>
              <a:t>20</a:t>
            </a:r>
            <a:endParaRPr lang="en-US" sz="6400" dirty="0"/>
          </a:p>
        </p:txBody>
      </p:sp>
      <p:sp>
        <p:nvSpPr>
          <p:cNvPr id="12" name="Text 10"/>
          <p:cNvSpPr txBox="1"/>
          <p:nvPr/>
        </p:nvSpPr>
        <p:spPr>
          <a:xfrm>
            <a:off x="4019296" y="1467612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sites (hospitals, universities)</a:t>
            </a:r>
            <a:endParaRPr lang="en-US" sz="2200" dirty="0"/>
          </a:p>
        </p:txBody>
      </p:sp>
      <p:sp>
        <p:nvSpPr>
          <p:cNvPr id="13" name="Text 11"/>
          <p:cNvSpPr txBox="1"/>
          <p:nvPr/>
        </p:nvSpPr>
        <p:spPr>
          <a:xfrm>
            <a:off x="6804152" y="13624560"/>
            <a:ext cx="2784856" cy="1005840"/>
          </a:xfrm>
          <a:prstGeom prst="rect">
            <a:avLst/>
          </a:prstGeom>
          <a:noFill/>
          <a:ln/>
        </p:spPr>
        <p:txBody>
          <a:bodyPr wrap="square" lIns="0" tIns="0" rIns="0" bIns="0" rtlCol="0" anchor="b"/>
          <a:lstStyle/>
          <a:p>
            <a:pPr algn="ctr" indent="0" marL="0">
              <a:buNone/>
            </a:pPr>
            <a:r>
              <a:rPr lang="en-US" sz="6400" b="1" dirty="0">
                <a:solidFill>
                  <a:srgbClr val="2A78D6"/>
                </a:solidFill>
                <a:latin typeface="Arial" pitchFamily="34" charset="0"/>
                <a:ea typeface="Arial" pitchFamily="34" charset="-122"/>
                <a:cs typeface="Arial" pitchFamily="34" charset="-120"/>
              </a:rPr>
              <a:t>46%</a:t>
            </a:r>
            <a:endParaRPr lang="en-US" sz="6400" dirty="0"/>
          </a:p>
        </p:txBody>
      </p:sp>
      <p:sp>
        <p:nvSpPr>
          <p:cNvPr id="14" name="Text 12"/>
          <p:cNvSpPr txBox="1"/>
          <p:nvPr/>
        </p:nvSpPr>
        <p:spPr>
          <a:xfrm>
            <a:off x="6804152" y="1467612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with an autism diagnosis</a:t>
            </a:r>
            <a:endParaRPr lang="en-US" sz="2200" dirty="0"/>
          </a:p>
        </p:txBody>
      </p:sp>
      <p:sp>
        <p:nvSpPr>
          <p:cNvPr id="15" name="two approaches"/>
          <p:cNvSpPr/>
          <p:nvPr/>
        </p:nvSpPr>
        <p:spPr>
          <a:xfrm>
            <a:off x="822960" y="16642080"/>
            <a:ext cx="9177528" cy="13898880"/>
          </a:xfrm>
          <a:prstGeom prst="roundRect">
            <a:avLst>
              <a:gd name="adj" fmla="val 3487"/>
            </a:avLst>
          </a:prstGeom>
          <a:solidFill>
            <a:srgbClr val="EEF1F6"/>
          </a:solidFill>
          <a:ln w="12700">
            <a:solidFill>
              <a:srgbClr val="EEF1F6"/>
            </a:solidFill>
            <a:prstDash val="solid"/>
          </a:ln>
        </p:spPr>
      </p:sp>
      <p:sp>
        <p:nvSpPr>
          <p:cNvPr id="16" name="Text 14"/>
          <p:cNvSpPr txBox="1"/>
          <p:nvPr/>
        </p:nvSpPr>
        <p:spPr>
          <a:xfrm>
            <a:off x="1234440" y="17053560"/>
            <a:ext cx="8354568" cy="73152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Two ways to ask the computer</a:t>
            </a:r>
            <a:endParaRPr lang="en-US" sz="4400" dirty="0"/>
          </a:p>
        </p:txBody>
      </p:sp>
      <p:sp>
        <p:nvSpPr>
          <p:cNvPr id="17" name="Text 15"/>
          <p:cNvSpPr txBox="1"/>
          <p:nvPr/>
        </p:nvSpPr>
        <p:spPr>
          <a:xfrm>
            <a:off x="1234440" y="18059400"/>
            <a:ext cx="8354568" cy="640080"/>
          </a:xfrm>
          <a:prstGeom prst="rect">
            <a:avLst/>
          </a:prstGeom>
          <a:noFill/>
          <a:ln/>
        </p:spPr>
        <p:txBody>
          <a:bodyPr wrap="square" lIns="0" tIns="0" rIns="0" bIns="0" rtlCol="0" anchor="t"/>
          <a:lstStyle/>
          <a:p>
            <a:pPr algn="l" indent="0" marL="0">
              <a:buNone/>
            </a:pPr>
            <a:r>
              <a:rPr lang="en-US" sz="2600" b="1" dirty="0">
                <a:solidFill>
                  <a:srgbClr val="2A78D6"/>
                </a:solidFill>
                <a:latin typeface="Arial" pitchFamily="34" charset="0"/>
                <a:ea typeface="Arial" pitchFamily="34" charset="-122"/>
                <a:cs typeface="Arial" pitchFamily="34" charset="-120"/>
              </a:rPr>
              <a:t>A. Connectivity fingerprint</a:t>
            </a:r>
            <a:endParaRPr lang="en-US" sz="2600" dirty="0"/>
          </a:p>
        </p:txBody>
      </p:sp>
      <p:sp>
        <p:nvSpPr>
          <p:cNvPr id="18" name="Shape 16"/>
          <p:cNvSpPr/>
          <p:nvPr/>
        </p:nvSpPr>
        <p:spPr>
          <a:xfrm>
            <a:off x="1234440" y="18699480"/>
            <a:ext cx="1783080" cy="1737360"/>
          </a:xfrm>
          <a:prstGeom prst="roundRect">
            <a:avLst>
              <a:gd name="adj" fmla="val 10526"/>
            </a:avLst>
          </a:prstGeom>
          <a:solidFill>
            <a:srgbClr val="FFFFFF"/>
          </a:solidFill>
          <a:ln w="12700">
            <a:solidFill>
              <a:srgbClr val="FFFFFF"/>
            </a:solidFill>
            <a:prstDash val="solid"/>
          </a:ln>
        </p:spPr>
      </p:sp>
      <p:sp>
        <p:nvSpPr>
          <p:cNvPr id="19" name="Text 17"/>
          <p:cNvSpPr txBox="1"/>
          <p:nvPr/>
        </p:nvSpPr>
        <p:spPr>
          <a:xfrm>
            <a:off x="1344168" y="1869948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Scan: about 100 brain regions</a:t>
            </a:r>
            <a:endParaRPr lang="en-US" sz="2000" dirty="0"/>
          </a:p>
        </p:txBody>
      </p:sp>
      <p:sp>
        <p:nvSpPr>
          <p:cNvPr id="20" name="Shape 18"/>
          <p:cNvSpPr/>
          <p:nvPr/>
        </p:nvSpPr>
        <p:spPr>
          <a:xfrm>
            <a:off x="3017520" y="19362420"/>
            <a:ext cx="411480" cy="411480"/>
          </a:xfrm>
          <a:prstGeom prst="rightArrow">
            <a:avLst/>
          </a:prstGeom>
          <a:solidFill>
            <a:srgbClr val="898781"/>
          </a:solidFill>
          <a:ln w="12700">
            <a:solidFill>
              <a:srgbClr val="898781"/>
            </a:solidFill>
            <a:prstDash val="solid"/>
          </a:ln>
        </p:spPr>
      </p:sp>
      <p:sp>
        <p:nvSpPr>
          <p:cNvPr id="21" name="Shape 19"/>
          <p:cNvSpPr/>
          <p:nvPr/>
        </p:nvSpPr>
        <p:spPr>
          <a:xfrm>
            <a:off x="3429000" y="18699480"/>
            <a:ext cx="1783080" cy="1737360"/>
          </a:xfrm>
          <a:prstGeom prst="roundRect">
            <a:avLst>
              <a:gd name="adj" fmla="val 10526"/>
            </a:avLst>
          </a:prstGeom>
          <a:solidFill>
            <a:srgbClr val="FFFFFF"/>
          </a:solidFill>
          <a:ln w="12700">
            <a:solidFill>
              <a:srgbClr val="FFFFFF"/>
            </a:solidFill>
            <a:prstDash val="solid"/>
          </a:ln>
        </p:spPr>
      </p:sp>
      <p:sp>
        <p:nvSpPr>
          <p:cNvPr id="22" name="Text 20"/>
          <p:cNvSpPr txBox="1"/>
          <p:nvPr/>
        </p:nvSpPr>
        <p:spPr>
          <a:xfrm>
            <a:off x="3538728" y="1869948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Do pairs of regions rise and fall together?</a:t>
            </a:r>
            <a:endParaRPr lang="en-US" sz="2000" dirty="0"/>
          </a:p>
        </p:txBody>
      </p:sp>
      <p:sp>
        <p:nvSpPr>
          <p:cNvPr id="23" name="Shape 21"/>
          <p:cNvSpPr/>
          <p:nvPr/>
        </p:nvSpPr>
        <p:spPr>
          <a:xfrm>
            <a:off x="5212080" y="19362420"/>
            <a:ext cx="411480" cy="411480"/>
          </a:xfrm>
          <a:prstGeom prst="rightArrow">
            <a:avLst/>
          </a:prstGeom>
          <a:solidFill>
            <a:srgbClr val="898781"/>
          </a:solidFill>
          <a:ln w="12700">
            <a:solidFill>
              <a:srgbClr val="898781"/>
            </a:solidFill>
            <a:prstDash val="solid"/>
          </a:ln>
        </p:spPr>
      </p:sp>
      <p:sp>
        <p:nvSpPr>
          <p:cNvPr id="24" name="Shape 22"/>
          <p:cNvSpPr/>
          <p:nvPr/>
        </p:nvSpPr>
        <p:spPr>
          <a:xfrm>
            <a:off x="5623560" y="18699480"/>
            <a:ext cx="1783080" cy="1737360"/>
          </a:xfrm>
          <a:prstGeom prst="roundRect">
            <a:avLst>
              <a:gd name="adj" fmla="val 10526"/>
            </a:avLst>
          </a:prstGeom>
          <a:solidFill>
            <a:srgbClr val="FFFFFF"/>
          </a:solidFill>
          <a:ln w="12700">
            <a:solidFill>
              <a:srgbClr val="FFFFFF"/>
            </a:solidFill>
            <a:prstDash val="solid"/>
          </a:ln>
        </p:spPr>
      </p:sp>
      <p:sp>
        <p:nvSpPr>
          <p:cNvPr id="25" name="Text 23"/>
          <p:cNvSpPr txBox="1"/>
          <p:nvPr/>
        </p:nvSpPr>
        <p:spPr>
          <a:xfrm>
            <a:off x="5733288" y="1869948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5,050 numbers per person</a:t>
            </a:r>
            <a:endParaRPr lang="en-US" sz="2000" dirty="0"/>
          </a:p>
        </p:txBody>
      </p:sp>
      <p:sp>
        <p:nvSpPr>
          <p:cNvPr id="26" name="Shape 24"/>
          <p:cNvSpPr/>
          <p:nvPr/>
        </p:nvSpPr>
        <p:spPr>
          <a:xfrm>
            <a:off x="7406640" y="19362420"/>
            <a:ext cx="411480" cy="411480"/>
          </a:xfrm>
          <a:prstGeom prst="rightArrow">
            <a:avLst/>
          </a:prstGeom>
          <a:solidFill>
            <a:srgbClr val="898781"/>
          </a:solidFill>
          <a:ln w="12700">
            <a:solidFill>
              <a:srgbClr val="898781"/>
            </a:solidFill>
            <a:prstDash val="solid"/>
          </a:ln>
        </p:spPr>
      </p:sp>
      <p:sp>
        <p:nvSpPr>
          <p:cNvPr id="27" name="Shape 25"/>
          <p:cNvSpPr/>
          <p:nvPr/>
        </p:nvSpPr>
        <p:spPr>
          <a:xfrm>
            <a:off x="7818120" y="18699480"/>
            <a:ext cx="1783080" cy="1737360"/>
          </a:xfrm>
          <a:prstGeom prst="roundRect">
            <a:avLst>
              <a:gd name="adj" fmla="val 10526"/>
            </a:avLst>
          </a:prstGeom>
          <a:solidFill>
            <a:srgbClr val="2A78D6"/>
          </a:solidFill>
          <a:ln w="12700">
            <a:solidFill>
              <a:srgbClr val="2A78D6"/>
            </a:solidFill>
            <a:prstDash val="solid"/>
          </a:ln>
        </p:spPr>
      </p:sp>
      <p:sp>
        <p:nvSpPr>
          <p:cNvPr id="28" name="Text 26"/>
          <p:cNvSpPr txBox="1"/>
          <p:nvPr/>
        </p:nvSpPr>
        <p:spPr>
          <a:xfrm>
            <a:off x="7927848" y="18699480"/>
            <a:ext cx="1563624" cy="173736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Simple classifier</a:t>
            </a:r>
            <a:endParaRPr lang="en-US" sz="2000" dirty="0"/>
          </a:p>
        </p:txBody>
      </p:sp>
      <p:sp>
        <p:nvSpPr>
          <p:cNvPr id="29" name="Text 27"/>
          <p:cNvSpPr txBox="1"/>
          <p:nvPr/>
        </p:nvSpPr>
        <p:spPr>
          <a:xfrm>
            <a:off x="1234440" y="20619720"/>
            <a:ext cx="8354568" cy="265176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Replicates Abraham et al. (2017). A weighted sum of the 5,050 numbers decides. Three ways of measuring "together" are compared; the best, tangent embedding, first lines every scan up against the group average.</a:t>
            </a:r>
            <a:endParaRPr lang="en-US" sz="2200" dirty="0"/>
          </a:p>
        </p:txBody>
      </p:sp>
      <p:sp>
        <p:nvSpPr>
          <p:cNvPr id="30" name="Text 28"/>
          <p:cNvSpPr txBox="1"/>
          <p:nvPr/>
        </p:nvSpPr>
        <p:spPr>
          <a:xfrm>
            <a:off x="1234440" y="23408640"/>
            <a:ext cx="8354568" cy="640080"/>
          </a:xfrm>
          <a:prstGeom prst="rect">
            <a:avLst/>
          </a:prstGeom>
          <a:noFill/>
          <a:ln/>
        </p:spPr>
        <p:txBody>
          <a:bodyPr wrap="square" lIns="0" tIns="0" rIns="0" bIns="0" rtlCol="0" anchor="t"/>
          <a:lstStyle/>
          <a:p>
            <a:pPr algn="l" indent="0" marL="0">
              <a:buNone/>
            </a:pPr>
            <a:r>
              <a:rPr lang="en-US" sz="2600" b="1" dirty="0">
                <a:solidFill>
                  <a:srgbClr val="1BAF7A"/>
                </a:solidFill>
                <a:latin typeface="Arial" pitchFamily="34" charset="0"/>
                <a:ea typeface="Arial" pitchFamily="34" charset="-122"/>
                <a:cs typeface="Arial" pitchFamily="34" charset="-120"/>
              </a:rPr>
              <a:t>B. Pictures and words</a:t>
            </a:r>
            <a:endParaRPr lang="en-US" sz="2600" dirty="0"/>
          </a:p>
        </p:txBody>
      </p:sp>
      <p:sp>
        <p:nvSpPr>
          <p:cNvPr id="31" name="Shape 29"/>
          <p:cNvSpPr/>
          <p:nvPr/>
        </p:nvSpPr>
        <p:spPr>
          <a:xfrm>
            <a:off x="1234440" y="24048720"/>
            <a:ext cx="1783080" cy="1737360"/>
          </a:xfrm>
          <a:prstGeom prst="roundRect">
            <a:avLst>
              <a:gd name="adj" fmla="val 10526"/>
            </a:avLst>
          </a:prstGeom>
          <a:solidFill>
            <a:srgbClr val="FFFFFF"/>
          </a:solidFill>
          <a:ln w="12700">
            <a:solidFill>
              <a:srgbClr val="FFFFFF"/>
            </a:solidFill>
            <a:prstDash val="solid"/>
          </a:ln>
        </p:spPr>
      </p:sp>
      <p:sp>
        <p:nvSpPr>
          <p:cNvPr id="32" name="Text 30"/>
          <p:cNvSpPr txBox="1"/>
          <p:nvPr/>
        </p:nvSpPr>
        <p:spPr>
          <a:xfrm>
            <a:off x="1344168" y="2404872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One slice at one instant</a:t>
            </a:r>
            <a:endParaRPr lang="en-US" sz="2000" dirty="0"/>
          </a:p>
        </p:txBody>
      </p:sp>
      <p:sp>
        <p:nvSpPr>
          <p:cNvPr id="33" name="Shape 31"/>
          <p:cNvSpPr/>
          <p:nvPr/>
        </p:nvSpPr>
        <p:spPr>
          <a:xfrm>
            <a:off x="3017520" y="24711660"/>
            <a:ext cx="411480" cy="411480"/>
          </a:xfrm>
          <a:prstGeom prst="rightArrow">
            <a:avLst/>
          </a:prstGeom>
          <a:solidFill>
            <a:srgbClr val="898781"/>
          </a:solidFill>
          <a:ln w="12700">
            <a:solidFill>
              <a:srgbClr val="898781"/>
            </a:solidFill>
            <a:prstDash val="solid"/>
          </a:ln>
        </p:spPr>
      </p:sp>
      <p:sp>
        <p:nvSpPr>
          <p:cNvPr id="34" name="Shape 32"/>
          <p:cNvSpPr/>
          <p:nvPr/>
        </p:nvSpPr>
        <p:spPr>
          <a:xfrm>
            <a:off x="3429000" y="24048720"/>
            <a:ext cx="1783080" cy="1737360"/>
          </a:xfrm>
          <a:prstGeom prst="roundRect">
            <a:avLst>
              <a:gd name="adj" fmla="val 10526"/>
            </a:avLst>
          </a:prstGeom>
          <a:solidFill>
            <a:srgbClr val="FFFFFF"/>
          </a:solidFill>
          <a:ln w="12700">
            <a:solidFill>
              <a:srgbClr val="FFFFFF"/>
            </a:solidFill>
            <a:prstDash val="solid"/>
          </a:ln>
        </p:spPr>
      </p:sp>
      <p:sp>
        <p:nvSpPr>
          <p:cNvPr id="35" name="Text 33"/>
          <p:cNvSpPr txBox="1"/>
          <p:nvPr/>
        </p:nvSpPr>
        <p:spPr>
          <a:xfrm>
            <a:off x="3538728" y="2404872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A short report from the record</a:t>
            </a:r>
            <a:endParaRPr lang="en-US" sz="2000" dirty="0"/>
          </a:p>
        </p:txBody>
      </p:sp>
      <p:sp>
        <p:nvSpPr>
          <p:cNvPr id="36" name="Shape 34"/>
          <p:cNvSpPr/>
          <p:nvPr/>
        </p:nvSpPr>
        <p:spPr>
          <a:xfrm>
            <a:off x="5212080" y="24711660"/>
            <a:ext cx="411480" cy="411480"/>
          </a:xfrm>
          <a:prstGeom prst="rightArrow">
            <a:avLst/>
          </a:prstGeom>
          <a:solidFill>
            <a:srgbClr val="898781"/>
          </a:solidFill>
          <a:ln w="12700">
            <a:solidFill>
              <a:srgbClr val="898781"/>
            </a:solidFill>
            <a:prstDash val="solid"/>
          </a:ln>
        </p:spPr>
      </p:sp>
      <p:sp>
        <p:nvSpPr>
          <p:cNvPr id="37" name="Shape 35"/>
          <p:cNvSpPr/>
          <p:nvPr/>
        </p:nvSpPr>
        <p:spPr>
          <a:xfrm>
            <a:off x="5623560" y="24048720"/>
            <a:ext cx="1783080" cy="1737360"/>
          </a:xfrm>
          <a:prstGeom prst="roundRect">
            <a:avLst>
              <a:gd name="adj" fmla="val 10526"/>
            </a:avLst>
          </a:prstGeom>
          <a:solidFill>
            <a:srgbClr val="FFFFFF"/>
          </a:solidFill>
          <a:ln w="12700">
            <a:solidFill>
              <a:srgbClr val="FFFFFF"/>
            </a:solidFill>
            <a:prstDash val="solid"/>
          </a:ln>
        </p:spPr>
      </p:sp>
      <p:sp>
        <p:nvSpPr>
          <p:cNvPr id="38" name="Text 36"/>
          <p:cNvSpPr txBox="1"/>
          <p:nvPr/>
        </p:nvSpPr>
        <p:spPr>
          <a:xfrm>
            <a:off x="5733288" y="24048720"/>
            <a:ext cx="1563624" cy="1737360"/>
          </a:xfrm>
          <a:prstGeom prst="rect">
            <a:avLst/>
          </a:prstGeom>
          <a:noFill/>
          <a:ln/>
        </p:spPr>
        <p:txBody>
          <a:bodyPr wrap="square" lIns="0" tIns="0" rIns="0" bIns="0" rtlCol="0" anchor="ctr"/>
          <a:lstStyle/>
          <a:p>
            <a:pPr algn="ctr" indent="0" marL="0">
              <a:buNone/>
            </a:pPr>
            <a:r>
              <a:rPr lang="en-US" sz="2000" dirty="0">
                <a:solidFill>
                  <a:srgbClr val="1B2A41"/>
                </a:solidFill>
                <a:latin typeface="Arial" pitchFamily="34" charset="0"/>
                <a:ea typeface="Arial" pitchFamily="34" charset="-122"/>
                <a:cs typeface="Arial" pitchFamily="34" charset="-120"/>
              </a:rPr>
              <a:t>Model learns to match picture to report</a:t>
            </a:r>
            <a:endParaRPr lang="en-US" sz="2000" dirty="0"/>
          </a:p>
        </p:txBody>
      </p:sp>
      <p:sp>
        <p:nvSpPr>
          <p:cNvPr id="39" name="Shape 37"/>
          <p:cNvSpPr/>
          <p:nvPr/>
        </p:nvSpPr>
        <p:spPr>
          <a:xfrm>
            <a:off x="7406640" y="24711660"/>
            <a:ext cx="411480" cy="411480"/>
          </a:xfrm>
          <a:prstGeom prst="rightArrow">
            <a:avLst/>
          </a:prstGeom>
          <a:solidFill>
            <a:srgbClr val="898781"/>
          </a:solidFill>
          <a:ln w="12700">
            <a:solidFill>
              <a:srgbClr val="898781"/>
            </a:solidFill>
            <a:prstDash val="solid"/>
          </a:ln>
        </p:spPr>
      </p:sp>
      <p:sp>
        <p:nvSpPr>
          <p:cNvPr id="40" name="Shape 38"/>
          <p:cNvSpPr/>
          <p:nvPr/>
        </p:nvSpPr>
        <p:spPr>
          <a:xfrm>
            <a:off x="7818120" y="24048720"/>
            <a:ext cx="1783080" cy="1737360"/>
          </a:xfrm>
          <a:prstGeom prst="roundRect">
            <a:avLst>
              <a:gd name="adj" fmla="val 10526"/>
            </a:avLst>
          </a:prstGeom>
          <a:solidFill>
            <a:srgbClr val="1BAF7A"/>
          </a:solidFill>
          <a:ln w="12700">
            <a:solidFill>
              <a:srgbClr val="1BAF7A"/>
            </a:solidFill>
            <a:prstDash val="solid"/>
          </a:ln>
        </p:spPr>
      </p:sp>
      <p:sp>
        <p:nvSpPr>
          <p:cNvPr id="41" name="Text 39"/>
          <p:cNvSpPr txBox="1"/>
          <p:nvPr/>
        </p:nvSpPr>
        <p:spPr>
          <a:xfrm>
            <a:off x="7927848" y="24048720"/>
            <a:ext cx="1563624" cy="173736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Which report fits best?</a:t>
            </a:r>
            <a:endParaRPr lang="en-US" sz="2000" dirty="0"/>
          </a:p>
        </p:txBody>
      </p:sp>
      <p:sp>
        <p:nvSpPr>
          <p:cNvPr id="42" name="Text 40"/>
          <p:cNvSpPr txBox="1"/>
          <p:nvPr/>
        </p:nvSpPr>
        <p:spPr>
          <a:xfrm>
            <a:off x="1234440" y="25968960"/>
            <a:ext cx="8354568" cy="265176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Adapts MaMA (Du et al., 2024), a mammography model. No time series at all: the model only ever sees single pictures. A picture is a map of where the signal is above or below its usual level at that instant, not anatomy. Personal details in the reports are hidden 80% of the time so the model cannot cheat by memorising them.</a:t>
            </a:r>
            <a:endParaRPr lang="en-US" sz="2200" dirty="0"/>
          </a:p>
        </p:txBody>
      </p:sp>
      <p:pic>
        <p:nvPicPr>
          <p:cNvPr id="43" name="axial slice" descr="axial slice of one fMRI volume at one time point, 76 by 76 pixels">    </p:cNvPr>
          <p:cNvPicPr>
            <a:picLocks noChangeAspect="1"/>
          </p:cNvPicPr>
          <p:nvPr/>
        </p:nvPicPr>
        <p:blipFill>
          <a:blip r:embed="rId1"/>
          <a:stretch>
            <a:fillRect/>
          </a:stretch>
        </p:blipFill>
        <p:spPr>
          <a:xfrm>
            <a:off x="1234440" y="28757880"/>
            <a:ext cx="1645920" cy="1645920"/>
          </a:xfrm>
          <a:prstGeom prst="rect">
            <a:avLst/>
          </a:prstGeom>
        </p:spPr>
      </p:pic>
      <p:pic>
        <p:nvPicPr>
          <p:cNvPr id="44" name="coronal slice" descr="coronal slice of one fMRI volume at one time point, 76 by 76 pixels">    </p:cNvPr>
          <p:cNvPicPr>
            <a:picLocks noChangeAspect="1"/>
          </p:cNvPicPr>
          <p:nvPr/>
        </p:nvPicPr>
        <p:blipFill>
          <a:blip r:embed="rId2"/>
          <a:stretch>
            <a:fillRect/>
          </a:stretch>
        </p:blipFill>
        <p:spPr>
          <a:xfrm>
            <a:off x="3063240" y="28757880"/>
            <a:ext cx="1645920" cy="1645920"/>
          </a:xfrm>
          <a:prstGeom prst="rect">
            <a:avLst/>
          </a:prstGeom>
        </p:spPr>
      </p:pic>
      <p:pic>
        <p:nvPicPr>
          <p:cNvPr id="45" name="sagittal slice" descr="sagittal slice of one fMRI volume at one time point, 76 by 76 pixels">    </p:cNvPr>
          <p:cNvPicPr>
            <a:picLocks noChangeAspect="1"/>
          </p:cNvPicPr>
          <p:nvPr/>
        </p:nvPicPr>
        <p:blipFill>
          <a:blip r:embed="rId3"/>
          <a:stretch>
            <a:fillRect/>
          </a:stretch>
        </p:blipFill>
        <p:spPr>
          <a:xfrm>
            <a:off x="4892040" y="28757880"/>
            <a:ext cx="1645920" cy="1645920"/>
          </a:xfrm>
          <a:prstGeom prst="rect">
            <a:avLst/>
          </a:prstGeom>
        </p:spPr>
      </p:pic>
      <p:sp>
        <p:nvSpPr>
          <p:cNvPr id="46" name="Text 41"/>
          <p:cNvSpPr txBox="1"/>
          <p:nvPr/>
        </p:nvSpPr>
        <p:spPr>
          <a:xfrm>
            <a:off x="6720840" y="28757880"/>
            <a:ext cx="2868168" cy="1645920"/>
          </a:xfrm>
          <a:prstGeom prst="rect">
            <a:avLst/>
          </a:prstGeom>
          <a:noFill/>
          <a:ln/>
        </p:spPr>
        <p:txBody>
          <a:bodyPr wrap="square" lIns="0" tIns="0" rIns="0" bIns="0" rtlCol="0" anchor="ctr"/>
          <a:lstStyle/>
          <a:p>
            <a:pPr algn="l" indent="0" marL="0">
              <a:buNone/>
            </a:pPr>
            <a:r>
              <a:rPr lang="en-US" sz="1900" dirty="0">
                <a:solidFill>
                  <a:srgbClr val="52514E"/>
                </a:solidFill>
                <a:latin typeface="Arial" pitchFamily="34" charset="0"/>
                <a:ea typeface="Arial" pitchFamily="34" charset="-122"/>
                <a:cs typeface="Arial" pitchFamily="34" charset="-120"/>
              </a:rPr>
              <a:t>What the model actually sees: one instant of one scan, cut three ways (76 x 76 pixels each; mid-grey = signal at its usual level).</a:t>
            </a:r>
            <a:endParaRPr lang="en-US" sz="1900" dirty="0"/>
          </a:p>
        </p:txBody>
      </p:sp>
      <p:sp>
        <p:nvSpPr>
          <p:cNvPr id="47" name="result 1"/>
          <p:cNvSpPr/>
          <p:nvPr/>
        </p:nvSpPr>
        <p:spPr>
          <a:xfrm>
            <a:off x="10549128" y="6766560"/>
            <a:ext cx="9177528" cy="14081760"/>
          </a:xfrm>
          <a:prstGeom prst="roundRect">
            <a:avLst>
              <a:gd name="adj" fmla="val 3487"/>
            </a:avLst>
          </a:prstGeom>
          <a:solidFill>
            <a:srgbClr val="EEF1F6"/>
          </a:solidFill>
          <a:ln w="12700">
            <a:solidFill>
              <a:srgbClr val="EEF1F6"/>
            </a:solidFill>
            <a:prstDash val="solid"/>
          </a:ln>
        </p:spPr>
      </p:sp>
      <p:sp>
        <p:nvSpPr>
          <p:cNvPr id="48" name="Text 43"/>
          <p:cNvSpPr txBox="1"/>
          <p:nvPr/>
        </p:nvSpPr>
        <p:spPr>
          <a:xfrm>
            <a:off x="10960608" y="7178040"/>
            <a:ext cx="8354568" cy="146304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Result 1: the fingerprint works at new hospitals</a:t>
            </a:r>
            <a:endParaRPr lang="en-US" sz="4400" dirty="0"/>
          </a:p>
        </p:txBody>
      </p:sp>
      <p:sp>
        <p:nvSpPr>
          <p:cNvPr id="49" name="Text 44"/>
          <p:cNvSpPr txBox="1"/>
          <p:nvPr/>
        </p:nvSpPr>
        <p:spPr>
          <a:xfrm>
            <a:off x="10960608" y="8869680"/>
            <a:ext cx="8354568" cy="118872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Trained on 19 sites, tested on the 20th, repeated for every site. Share of people classified correctly, pooled over all 871:</a:t>
            </a:r>
            <a:endParaRPr lang="en-US" sz="2200" dirty="0"/>
          </a:p>
        </p:txBody>
      </p:sp>
      <p:graphicFrame>
        <p:nvGraphicFramePr>
          <p:cNvPr id="50" name="pipeline A accuracy" descr=""/>
          <p:cNvGraphicFramePr/>
          <p:nvPr/>
        </p:nvGraphicFramePr>
        <p:xfrm>
          <a:off x="10960608" y="10149840"/>
          <a:ext cx="8354568" cy="6309360"/>
        </p:xfrm>
        <a:graphic xmlns:a="http://schemas.openxmlformats.org/drawingml/2006/main">
          <a:graphicData uri="http://schemas.openxmlformats.org/drawingml/2006/chart">
            <c:chart xmlns:c="http://schemas.openxmlformats.org/drawingml/2006/chart" r:id="rId4"/>
          </a:graphicData>
        </a:graphic>
      </p:graphicFrame>
      <p:sp>
        <p:nvSpPr>
          <p:cNvPr id="51" name="Text 45"/>
          <p:cNvSpPr txBox="1"/>
          <p:nvPr/>
        </p:nvSpPr>
        <p:spPr>
          <a:xfrm>
            <a:off x="10960608" y="16733520"/>
            <a:ext cx="8354568" cy="3840480"/>
          </a:xfrm>
          <a:prstGeom prst="rect">
            <a:avLst/>
          </a:prstGeom>
          <a:noFill/>
          <a:ln/>
        </p:spPr>
        <p:txBody>
          <a:bodyPr wrap="square" lIns="0" tIns="0" rIns="0" bIns="0" rtlCol="0" anchor="t"/>
          <a:lstStyle/>
          <a:p>
            <a:pPr algn="l" marL="355600" indent="-355600">
              <a:lnSpc>
                <a:spcPct val="112000"/>
              </a:lnSpc>
              <a:spcAft>
                <a:spcPts val="1000"/>
              </a:spcAft>
              <a:buSzPct val="100000"/>
              <a:buChar char="•"/>
            </a:pPr>
            <a:r>
              <a:rPr lang="en-US" sz="2200" dirty="0">
                <a:solidFill>
                  <a:srgbClr val="1B2A41"/>
                </a:solidFill>
                <a:latin typeface="Arial" pitchFamily="34" charset="0"/>
                <a:ea typeface="Arial" pitchFamily="34" charset="-122"/>
                <a:cs typeface="Arial" pitchFamily="34" charset="-120"/>
              </a:rPr>
              <a:t>About two in three people correct at a hospital the model never saw, against 54% from always guessing "control". This matches the published paper, down to tangent embedding being the best measure.</a:t>
            </a:r>
            <a:endParaRPr lang="en-US" sz="2200" dirty="0"/>
          </a:p>
          <a:p>
            <a:pPr algn="l" marL="355600" indent="-355600">
              <a:lnSpc>
                <a:spcPct val="112000"/>
              </a:lnSpc>
              <a:spcAft>
                <a:spcPts val="1000"/>
              </a:spcAft>
              <a:buSzPct val="100000"/>
              <a:buChar char="•"/>
            </a:pPr>
            <a:r>
              <a:rPr lang="en-US" sz="2200" dirty="0">
                <a:solidFill>
                  <a:srgbClr val="1B2A41"/>
                </a:solidFill>
                <a:latin typeface="Arial" pitchFamily="34" charset="0"/>
                <a:ea typeface="Arial" pitchFamily="34" charset="-122"/>
                <a:cs typeface="Arial" pitchFamily="34" charset="-120"/>
              </a:rPr>
              <a:t>Within the same sites (10-fold cross-validation) the best setting reaches 68%.</a:t>
            </a:r>
            <a:endParaRPr lang="en-US" sz="2200" dirty="0"/>
          </a:p>
        </p:txBody>
      </p:sp>
      <p:sp>
        <p:nvSpPr>
          <p:cNvPr id="52" name="audit"/>
          <p:cNvSpPr/>
          <p:nvPr/>
        </p:nvSpPr>
        <p:spPr>
          <a:xfrm>
            <a:off x="10549128" y="21396960"/>
            <a:ext cx="9177528" cy="9144000"/>
          </a:xfrm>
          <a:prstGeom prst="roundRect">
            <a:avLst>
              <a:gd name="adj" fmla="val 3500"/>
            </a:avLst>
          </a:prstGeom>
          <a:solidFill>
            <a:srgbClr val="EEF1F6"/>
          </a:solidFill>
          <a:ln w="12700">
            <a:solidFill>
              <a:srgbClr val="EEF1F6"/>
            </a:solidFill>
            <a:prstDash val="solid"/>
          </a:ln>
        </p:spPr>
      </p:sp>
      <p:sp>
        <p:nvSpPr>
          <p:cNvPr id="53" name="Text 47"/>
          <p:cNvSpPr txBox="1"/>
          <p:nvPr/>
        </p:nvSpPr>
        <p:spPr>
          <a:xfrm>
            <a:off x="10960608" y="21808440"/>
            <a:ext cx="8354568" cy="146304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What checking our own code taught us</a:t>
            </a:r>
            <a:endParaRPr lang="en-US" sz="4400" dirty="0"/>
          </a:p>
        </p:txBody>
      </p:sp>
      <p:sp>
        <p:nvSpPr>
          <p:cNvPr id="54" name="Text 48"/>
          <p:cNvSpPr txBox="1"/>
          <p:nvPr/>
        </p:nvSpPr>
        <p:spPr>
          <a:xfrm>
            <a:off x="10960608" y="23500080"/>
            <a:ext cx="8354568" cy="173736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A first version found no advantage for tangent embedding, unlike the paper. Before blaming the paper we audited our pipeline, one change at a time on the same people, and found three mistakes of our own:</a:t>
            </a:r>
            <a:endParaRPr lang="en-US" sz="2200" dirty="0"/>
          </a:p>
        </p:txBody>
      </p:sp>
      <p:sp>
        <p:nvSpPr>
          <p:cNvPr id="55" name="Shape 49"/>
          <p:cNvSpPr/>
          <p:nvPr/>
        </p:nvSpPr>
        <p:spPr>
          <a:xfrm>
            <a:off x="10960608" y="25420320"/>
            <a:ext cx="731520" cy="731520"/>
          </a:xfrm>
          <a:prstGeom prst="ellipse">
            <a:avLst/>
          </a:prstGeom>
          <a:solidFill>
            <a:srgbClr val="1B2A41"/>
          </a:solidFill>
          <a:ln w="12700">
            <a:solidFill>
              <a:srgbClr val="1B2A41"/>
            </a:solidFill>
            <a:prstDash val="solid"/>
          </a:ln>
        </p:spPr>
      </p:sp>
      <p:sp>
        <p:nvSpPr>
          <p:cNvPr id="56" name="Text 50"/>
          <p:cNvSpPr txBox="1"/>
          <p:nvPr/>
        </p:nvSpPr>
        <p:spPr>
          <a:xfrm>
            <a:off x="10960608" y="25420320"/>
            <a:ext cx="73152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a:t>
            </a:r>
            <a:endParaRPr lang="en-US" sz="3400" dirty="0"/>
          </a:p>
        </p:txBody>
      </p:sp>
      <p:sp>
        <p:nvSpPr>
          <p:cNvPr id="57" name="Text 51"/>
          <p:cNvSpPr txBox="1"/>
          <p:nvPr/>
        </p:nvSpPr>
        <p:spPr>
          <a:xfrm>
            <a:off x="11920728" y="25402032"/>
            <a:ext cx="7394448" cy="109728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Signals not standardised: </a:t>
            </a:r>
            <a:pPr algn="l" indent="0" marL="0">
              <a:buNone/>
            </a:pPr>
            <a:r>
              <a:rPr lang="en-US" sz="2200" dirty="0">
                <a:solidFill>
                  <a:srgbClr val="1B2A41"/>
                </a:solidFill>
                <a:latin typeface="Arial" pitchFamily="34" charset="0"/>
                <a:ea typeface="Arial" pitchFamily="34" charset="-122"/>
                <a:cs typeface="Arial" pitchFamily="34" charset="-120"/>
              </a:rPr>
              <a:t>the library only did it for one of the three measures</a:t>
            </a:r>
            <a:endParaRPr lang="en-US" sz="2200" dirty="0"/>
          </a:p>
        </p:txBody>
      </p:sp>
      <p:sp>
        <p:nvSpPr>
          <p:cNvPr id="58" name="Shape 52"/>
          <p:cNvSpPr/>
          <p:nvPr/>
        </p:nvSpPr>
        <p:spPr>
          <a:xfrm>
            <a:off x="10960608" y="26609040"/>
            <a:ext cx="731520" cy="731520"/>
          </a:xfrm>
          <a:prstGeom prst="ellipse">
            <a:avLst/>
          </a:prstGeom>
          <a:solidFill>
            <a:srgbClr val="1B2A41"/>
          </a:solidFill>
          <a:ln w="12700">
            <a:solidFill>
              <a:srgbClr val="1B2A41"/>
            </a:solidFill>
            <a:prstDash val="solid"/>
          </a:ln>
        </p:spPr>
      </p:sp>
      <p:sp>
        <p:nvSpPr>
          <p:cNvPr id="59" name="Text 53"/>
          <p:cNvSpPr txBox="1"/>
          <p:nvPr/>
        </p:nvSpPr>
        <p:spPr>
          <a:xfrm>
            <a:off x="10960608" y="26609040"/>
            <a:ext cx="73152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2</a:t>
            </a:r>
            <a:endParaRPr lang="en-US" sz="3400" dirty="0"/>
          </a:p>
        </p:txBody>
      </p:sp>
      <p:sp>
        <p:nvSpPr>
          <p:cNvPr id="60" name="Text 54"/>
          <p:cNvSpPr txBox="1"/>
          <p:nvPr/>
        </p:nvSpPr>
        <p:spPr>
          <a:xfrm>
            <a:off x="11920728" y="26590752"/>
            <a:ext cx="7394448" cy="109728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One setting fixed by hand: </a:t>
            </a:r>
            <a:pPr algn="l" indent="0" marL="0">
              <a:buNone/>
            </a:pPr>
            <a:r>
              <a:rPr lang="en-US" sz="2200" dirty="0">
                <a:solidFill>
                  <a:srgbClr val="1B2A41"/>
                </a:solidFill>
                <a:latin typeface="Arial" pitchFamily="34" charset="0"/>
                <a:ea typeface="Arial" pitchFamily="34" charset="-122"/>
                <a:cs typeface="Arial" pitchFamily="34" charset="-120"/>
              </a:rPr>
              <a:t>instead of tuned on the training people</a:t>
            </a:r>
            <a:endParaRPr lang="en-US" sz="2200" dirty="0"/>
          </a:p>
        </p:txBody>
      </p:sp>
      <p:sp>
        <p:nvSpPr>
          <p:cNvPr id="61" name="Shape 55"/>
          <p:cNvSpPr/>
          <p:nvPr/>
        </p:nvSpPr>
        <p:spPr>
          <a:xfrm>
            <a:off x="10960608" y="27797760"/>
            <a:ext cx="731520" cy="731520"/>
          </a:xfrm>
          <a:prstGeom prst="ellipse">
            <a:avLst/>
          </a:prstGeom>
          <a:solidFill>
            <a:srgbClr val="1B2A41"/>
          </a:solidFill>
          <a:ln w="12700">
            <a:solidFill>
              <a:srgbClr val="1B2A41"/>
            </a:solidFill>
            <a:prstDash val="solid"/>
          </a:ln>
        </p:spPr>
      </p:sp>
      <p:sp>
        <p:nvSpPr>
          <p:cNvPr id="62" name="Text 56"/>
          <p:cNvSpPr txBox="1"/>
          <p:nvPr/>
        </p:nvSpPr>
        <p:spPr>
          <a:xfrm>
            <a:off x="10960608" y="27797760"/>
            <a:ext cx="73152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3</a:t>
            </a:r>
            <a:endParaRPr lang="en-US" sz="3400" dirty="0"/>
          </a:p>
        </p:txBody>
      </p:sp>
      <p:sp>
        <p:nvSpPr>
          <p:cNvPr id="63" name="Text 57"/>
          <p:cNvSpPr txBox="1"/>
          <p:nvPr/>
        </p:nvSpPr>
        <p:spPr>
          <a:xfrm>
            <a:off x="11920728" y="27779472"/>
            <a:ext cx="7394448" cy="109728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Wrong "chance" level: </a:t>
            </a:r>
            <a:pPr algn="l" indent="0" marL="0">
              <a:buNone/>
            </a:pPr>
            <a:r>
              <a:rPr lang="en-US" sz="2200" dirty="0">
                <a:solidFill>
                  <a:srgbClr val="1B2A41"/>
                </a:solidFill>
                <a:latin typeface="Arial" pitchFamily="34" charset="0"/>
                <a:ea typeface="Arial" pitchFamily="34" charset="-122"/>
                <a:cs typeface="Arial" pitchFamily="34" charset="-120"/>
              </a:rPr>
              <a:t>random guessing (51%) instead of always guessing the larger group (54%)</a:t>
            </a:r>
            <a:endParaRPr lang="en-US" sz="2200" dirty="0"/>
          </a:p>
        </p:txBody>
      </p:sp>
      <p:sp>
        <p:nvSpPr>
          <p:cNvPr id="64" name="Text 58"/>
          <p:cNvSpPr txBox="1"/>
          <p:nvPr/>
        </p:nvSpPr>
        <p:spPr>
          <a:xfrm>
            <a:off x="10960608" y="29169360"/>
            <a:ext cx="8354568" cy="1097280"/>
          </a:xfrm>
          <a:prstGeom prst="rect">
            <a:avLst/>
          </a:prstGeom>
          <a:noFill/>
          <a:ln/>
        </p:spPr>
        <p:txBody>
          <a:bodyPr wrap="square" lIns="0" tIns="0" rIns="0" bIns="0" rtlCol="0" anchor="t"/>
          <a:lstStyle/>
          <a:p>
            <a:pPr algn="l" indent="0" marL="0">
              <a:lnSpc>
                <a:spcPct val="115000"/>
              </a:lnSpc>
              <a:buNone/>
            </a:pPr>
            <a:r>
              <a:rPr lang="en-US" sz="2200" b="1" dirty="0">
                <a:solidFill>
                  <a:srgbClr val="1B2A41"/>
                </a:solidFill>
                <a:latin typeface="Arial" pitchFamily="34" charset="0"/>
                <a:ea typeface="Arial" pitchFamily="34" charset="-122"/>
                <a:cs typeface="Arial" pitchFamily="34" charset="-120"/>
              </a:rPr>
              <a:t>Fixing them changed the conclusion. </a:t>
            </a:r>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Check your own pipeline before you argue with a paper.</a:t>
            </a:r>
            <a:endParaRPr lang="en-US" sz="2200" dirty="0"/>
          </a:p>
        </p:txBody>
      </p:sp>
      <p:sp>
        <p:nvSpPr>
          <p:cNvPr id="65" name="result 2"/>
          <p:cNvSpPr/>
          <p:nvPr/>
        </p:nvSpPr>
        <p:spPr>
          <a:xfrm>
            <a:off x="20275296" y="6766560"/>
            <a:ext cx="9177528" cy="17830800"/>
          </a:xfrm>
          <a:prstGeom prst="roundRect">
            <a:avLst>
              <a:gd name="adj" fmla="val 3487"/>
            </a:avLst>
          </a:prstGeom>
          <a:solidFill>
            <a:srgbClr val="EEF1F6"/>
          </a:solidFill>
          <a:ln w="12700">
            <a:solidFill>
              <a:srgbClr val="EEF1F6"/>
            </a:solidFill>
            <a:prstDash val="solid"/>
          </a:ln>
        </p:spPr>
      </p:sp>
      <p:sp>
        <p:nvSpPr>
          <p:cNvPr id="66" name="Text 60"/>
          <p:cNvSpPr txBox="1"/>
          <p:nvPr/>
        </p:nvSpPr>
        <p:spPr>
          <a:xfrm>
            <a:off x="20686776" y="7178040"/>
            <a:ext cx="8354568" cy="146304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Result 2: the picture-and-text model works as machinery</a:t>
            </a:r>
            <a:endParaRPr lang="en-US" sz="4400" dirty="0"/>
          </a:p>
        </p:txBody>
      </p:sp>
      <p:sp>
        <p:nvSpPr>
          <p:cNvPr id="67" name="Text 61"/>
          <p:cNvSpPr txBox="1"/>
          <p:nvPr/>
        </p:nvSpPr>
        <p:spPr>
          <a:xfrm>
            <a:off x="20686776" y="8869680"/>
            <a:ext cx="8354568" cy="219456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Before days of cluster time, a sanity check: give the model 10 people from one site (5 autism, 5 control) and ask it to learn them by heart. A model that cannot even memorise ten people it has seen has a broken pipeline, not a hard problem.</a:t>
            </a:r>
            <a:endParaRPr lang="en-US" sz="2200" dirty="0"/>
          </a:p>
        </p:txBody>
      </p:sp>
      <p:sp>
        <p:nvSpPr>
          <p:cNvPr id="68" name="Text 62"/>
          <p:cNvSpPr txBox="1"/>
          <p:nvPr/>
        </p:nvSpPr>
        <p:spPr>
          <a:xfrm>
            <a:off x="20686776" y="11247120"/>
            <a:ext cx="2784856" cy="1005840"/>
          </a:xfrm>
          <a:prstGeom prst="rect">
            <a:avLst/>
          </a:prstGeom>
          <a:noFill/>
          <a:ln/>
        </p:spPr>
        <p:txBody>
          <a:bodyPr wrap="square" lIns="0" tIns="0" rIns="0" bIns="0" rtlCol="0" anchor="b"/>
          <a:lstStyle/>
          <a:p>
            <a:pPr algn="ctr" indent="0" marL="0">
              <a:buNone/>
            </a:pPr>
            <a:r>
              <a:rPr lang="en-US" sz="6400" b="1" dirty="0">
                <a:solidFill>
                  <a:srgbClr val="1BAF7A"/>
                </a:solidFill>
                <a:latin typeface="Arial" pitchFamily="34" charset="0"/>
                <a:ea typeface="Arial" pitchFamily="34" charset="-122"/>
                <a:cs typeface="Arial" pitchFamily="34" charset="-120"/>
              </a:rPr>
              <a:t>10/10</a:t>
            </a:r>
            <a:endParaRPr lang="en-US" sz="6400" dirty="0"/>
          </a:p>
        </p:txBody>
      </p:sp>
      <p:sp>
        <p:nvSpPr>
          <p:cNvPr id="69" name="Text 63"/>
          <p:cNvSpPr txBox="1"/>
          <p:nvPr/>
        </p:nvSpPr>
        <p:spPr>
          <a:xfrm>
            <a:off x="20686776" y="1229868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people learned</a:t>
            </a:r>
            <a:endParaRPr lang="en-US" sz="2200" dirty="0"/>
          </a:p>
        </p:txBody>
      </p:sp>
      <p:sp>
        <p:nvSpPr>
          <p:cNvPr id="70" name="Text 64"/>
          <p:cNvSpPr txBox="1"/>
          <p:nvPr/>
        </p:nvSpPr>
        <p:spPr>
          <a:xfrm>
            <a:off x="23471632" y="11247120"/>
            <a:ext cx="2784856" cy="1005840"/>
          </a:xfrm>
          <a:prstGeom prst="rect">
            <a:avLst/>
          </a:prstGeom>
          <a:noFill/>
          <a:ln/>
        </p:spPr>
        <p:txBody>
          <a:bodyPr wrap="square" lIns="0" tIns="0" rIns="0" bIns="0" rtlCol="0" anchor="b"/>
          <a:lstStyle/>
          <a:p>
            <a:pPr algn="ctr" indent="0" marL="0">
              <a:buNone/>
            </a:pPr>
            <a:r>
              <a:rPr lang="en-US" sz="6400" b="1" dirty="0">
                <a:solidFill>
                  <a:srgbClr val="1BAF7A"/>
                </a:solidFill>
                <a:latin typeface="Arial" pitchFamily="34" charset="0"/>
                <a:ea typeface="Arial" pitchFamily="34" charset="-122"/>
                <a:cs typeface="Arial" pitchFamily="34" charset="-120"/>
              </a:rPr>
              <a:t>89%</a:t>
            </a:r>
            <a:endParaRPr lang="en-US" sz="6400" dirty="0"/>
          </a:p>
        </p:txBody>
      </p:sp>
      <p:sp>
        <p:nvSpPr>
          <p:cNvPr id="71" name="Text 65"/>
          <p:cNvSpPr txBox="1"/>
          <p:nvPr/>
        </p:nvSpPr>
        <p:spPr>
          <a:xfrm>
            <a:off x="23471632" y="1229868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of their single pictures</a:t>
            </a:r>
            <a:endParaRPr lang="en-US" sz="2200" dirty="0"/>
          </a:p>
        </p:txBody>
      </p:sp>
      <p:sp>
        <p:nvSpPr>
          <p:cNvPr id="72" name="Text 66"/>
          <p:cNvSpPr txBox="1"/>
          <p:nvPr/>
        </p:nvSpPr>
        <p:spPr>
          <a:xfrm>
            <a:off x="26256488" y="11247120"/>
            <a:ext cx="2784856" cy="1005840"/>
          </a:xfrm>
          <a:prstGeom prst="rect">
            <a:avLst/>
          </a:prstGeom>
          <a:noFill/>
          <a:ln/>
        </p:spPr>
        <p:txBody>
          <a:bodyPr wrap="square" lIns="0" tIns="0" rIns="0" bIns="0" rtlCol="0" anchor="b"/>
          <a:lstStyle/>
          <a:p>
            <a:pPr algn="ctr" indent="0" marL="0">
              <a:buNone/>
            </a:pPr>
            <a:r>
              <a:rPr lang="en-US" sz="6400" b="1" dirty="0">
                <a:solidFill>
                  <a:srgbClr val="1BAF7A"/>
                </a:solidFill>
                <a:latin typeface="Arial" pitchFamily="34" charset="0"/>
                <a:ea typeface="Arial" pitchFamily="34" charset="-122"/>
                <a:cs typeface="Arial" pitchFamily="34" charset="-120"/>
              </a:rPr>
              <a:t>0.00</a:t>
            </a:r>
            <a:endParaRPr lang="en-US" sz="6400" dirty="0"/>
          </a:p>
        </p:txBody>
      </p:sp>
      <p:sp>
        <p:nvSpPr>
          <p:cNvPr id="73" name="Text 67"/>
          <p:cNvSpPr txBox="1"/>
          <p:nvPr/>
        </p:nvSpPr>
        <p:spPr>
          <a:xfrm>
            <a:off x="26256488" y="12298680"/>
            <a:ext cx="2784856" cy="822960"/>
          </a:xfrm>
          <a:prstGeom prst="rect">
            <a:avLst/>
          </a:prstGeom>
          <a:noFill/>
          <a:ln/>
        </p:spPr>
        <p:txBody>
          <a:bodyPr wrap="square" lIns="0" tIns="0" rIns="0" bIns="0" rtlCol="0" anchor="t"/>
          <a:lstStyle/>
          <a:p>
            <a:pPr algn="ctr" indent="0" marL="0">
              <a:buNone/>
            </a:pPr>
            <a:r>
              <a:rPr lang="en-US" sz="2200" dirty="0">
                <a:solidFill>
                  <a:srgbClr val="52514E"/>
                </a:solidFill>
                <a:latin typeface="Arial" pitchFamily="34" charset="0"/>
                <a:ea typeface="Arial" pitchFamily="34" charset="-122"/>
                <a:cs typeface="Arial" pitchFamily="34" charset="-120"/>
              </a:rPr>
              <a:t>change after saving and reloading</a:t>
            </a:r>
            <a:endParaRPr lang="en-US" sz="2200" dirty="0"/>
          </a:p>
        </p:txBody>
      </p:sp>
      <p:sp>
        <p:nvSpPr>
          <p:cNvPr id="74" name="Text 68"/>
          <p:cNvSpPr txBox="1"/>
          <p:nvPr/>
        </p:nvSpPr>
        <p:spPr>
          <a:xfrm>
            <a:off x="20686776" y="13350240"/>
            <a:ext cx="8354568" cy="731520"/>
          </a:xfrm>
          <a:prstGeom prst="rect">
            <a:avLst/>
          </a:prstGeom>
          <a:noFill/>
          <a:ln/>
        </p:spPr>
        <p:txBody>
          <a:bodyPr wrap="square" lIns="0" tIns="0" rIns="0" bIns="0" rtlCol="0" anchor="t"/>
          <a:lstStyle/>
          <a:p>
            <a:pPr algn="l" indent="0" marL="0">
              <a:buNone/>
            </a:pPr>
            <a:r>
              <a:rPr lang="en-US" sz="2000" dirty="0">
                <a:solidFill>
                  <a:srgbClr val="52514E"/>
                </a:solidFill>
                <a:latin typeface="Arial" pitchFamily="34" charset="0"/>
                <a:ea typeface="Arial" pitchFamily="34" charset="-122"/>
                <a:cs typeface="Arial" pitchFamily="34" charset="-120"/>
              </a:rPr>
              <a:t>Loss at every training step. Falling = learning; grey = random guessing.</a:t>
            </a:r>
            <a:endParaRPr lang="en-US" sz="2000" dirty="0"/>
          </a:p>
        </p:txBody>
      </p:sp>
      <p:graphicFrame>
        <p:nvGraphicFramePr>
          <p:cNvPr id="75" name="training losses" descr=""/>
          <p:cNvGraphicFramePr/>
          <p:nvPr/>
        </p:nvGraphicFramePr>
        <p:xfrm>
          <a:off x="20686776" y="14173200"/>
          <a:ext cx="8354568" cy="5120640"/>
        </p:xfrm>
        <a:graphic xmlns:a="http://schemas.openxmlformats.org/drawingml/2006/main">
          <a:graphicData uri="http://schemas.openxmlformats.org/drawingml/2006/chart">
            <c:chart xmlns:c="http://schemas.openxmlformats.org/drawingml/2006/chart" r:id="rId5"/>
          </a:graphicData>
        </a:graphic>
      </p:graphicFrame>
      <p:sp>
        <p:nvSpPr>
          <p:cNvPr id="76" name="Text 69"/>
          <p:cNvSpPr txBox="1"/>
          <p:nvPr/>
        </p:nvSpPr>
        <p:spPr>
          <a:xfrm>
            <a:off x="20686776" y="19476720"/>
            <a:ext cx="8354568" cy="731520"/>
          </a:xfrm>
          <a:prstGeom prst="rect">
            <a:avLst/>
          </a:prstGeom>
          <a:noFill/>
          <a:ln/>
        </p:spPr>
        <p:txBody>
          <a:bodyPr wrap="square" lIns="0" tIns="0" rIns="0" bIns="0" rtlCol="0" anchor="t"/>
          <a:lstStyle/>
          <a:p>
            <a:pPr algn="l" indent="0" marL="0">
              <a:buNone/>
            </a:pPr>
            <a:r>
              <a:rPr lang="en-US" sz="2000" dirty="0">
                <a:solidFill>
                  <a:srgbClr val="52514E"/>
                </a:solidFill>
                <a:latin typeface="Arial" pitchFamily="34" charset="0"/>
                <a:ea typeface="Arial" pitchFamily="34" charset="-122"/>
                <a:cs typeface="Arial" pitchFamily="34" charset="-120"/>
              </a:rPr>
              <a:t>Final score per person after training. Positive = "autism" fits better.</a:t>
            </a:r>
            <a:endParaRPr lang="en-US" sz="2000" dirty="0"/>
          </a:p>
        </p:txBody>
      </p:sp>
      <p:graphicFrame>
        <p:nvGraphicFramePr>
          <p:cNvPr id="77" name="per-participant scores" descr=""/>
          <p:cNvGraphicFramePr/>
          <p:nvPr/>
        </p:nvGraphicFramePr>
        <p:xfrm>
          <a:off x="20686776" y="20299680"/>
          <a:ext cx="8354568" cy="3383280"/>
        </p:xfrm>
        <a:graphic xmlns:a="http://schemas.openxmlformats.org/drawingml/2006/main">
          <a:graphicData uri="http://schemas.openxmlformats.org/drawingml/2006/chart">
            <c:chart xmlns:c="http://schemas.openxmlformats.org/drawingml/2006/chart" r:id="rId6"/>
          </a:graphicData>
        </a:graphic>
      </p:graphicFrame>
      <p:sp>
        <p:nvSpPr>
          <p:cNvPr id="78" name="Text 70"/>
          <p:cNvSpPr txBox="1"/>
          <p:nvPr/>
        </p:nvSpPr>
        <p:spPr>
          <a:xfrm>
            <a:off x="20686776" y="23774400"/>
            <a:ext cx="8354568" cy="457200"/>
          </a:xfrm>
          <a:prstGeom prst="rect">
            <a:avLst/>
          </a:prstGeom>
          <a:noFill/>
          <a:ln/>
        </p:spPr>
        <p:txBody>
          <a:bodyPr wrap="square" lIns="0" tIns="0" rIns="0" bIns="0" rtlCol="0" anchor="t"/>
          <a:lstStyle/>
          <a:p>
            <a:pPr algn="ctr" indent="0" marL="0">
              <a:buNone/>
            </a:pPr>
            <a:r>
              <a:rPr lang="en-US" sz="2000" dirty="0">
                <a:solidFill>
                  <a:srgbClr val="1BAF7A"/>
                </a:solidFill>
                <a:latin typeface="Arial" pitchFamily="34" charset="0"/>
                <a:ea typeface="Arial" pitchFamily="34" charset="-122"/>
                <a:cs typeface="Arial" pitchFamily="34" charset="-120"/>
              </a:rPr>
              <a:t>■ </a:t>
            </a:r>
            <a:pPr algn="ctr" indent="0" marL="0">
              <a:buNone/>
            </a:pPr>
            <a:r>
              <a:rPr lang="en-US" sz="2000" dirty="0">
                <a:solidFill>
                  <a:srgbClr val="52514E"/>
                </a:solidFill>
                <a:latin typeface="Arial" pitchFamily="34" charset="0"/>
                <a:ea typeface="Arial" pitchFamily="34" charset="-122"/>
                <a:cs typeface="Arial" pitchFamily="34" charset="-120"/>
              </a:rPr>
              <a:t>autism diagnosis     </a:t>
            </a:r>
            <a:pPr algn="ctr" indent="0" marL="0">
              <a:buNone/>
            </a:pPr>
            <a:r>
              <a:rPr lang="en-US" sz="2000" dirty="0">
                <a:solidFill>
                  <a:srgbClr val="EB6834"/>
                </a:solidFill>
                <a:latin typeface="Arial" pitchFamily="34" charset="0"/>
                <a:ea typeface="Arial" pitchFamily="34" charset="-122"/>
                <a:cs typeface="Arial" pitchFamily="34" charset="-120"/>
              </a:rPr>
              <a:t>■ </a:t>
            </a:r>
            <a:pPr algn="ctr" indent="0" marL="0">
              <a:buNone/>
            </a:pPr>
            <a:r>
              <a:rPr lang="en-US" sz="2000" dirty="0">
                <a:solidFill>
                  <a:srgbClr val="52514E"/>
                </a:solidFill>
                <a:latin typeface="Arial" pitchFamily="34" charset="0"/>
                <a:ea typeface="Arial" pitchFamily="34" charset="-122"/>
                <a:cs typeface="Arial" pitchFamily="34" charset="-120"/>
              </a:rPr>
              <a:t>control</a:t>
            </a:r>
            <a:endParaRPr lang="en-US" sz="2000" dirty="0"/>
          </a:p>
        </p:txBody>
      </p:sp>
      <p:sp>
        <p:nvSpPr>
          <p:cNvPr id="79" name="at scale"/>
          <p:cNvSpPr/>
          <p:nvPr/>
        </p:nvSpPr>
        <p:spPr>
          <a:xfrm>
            <a:off x="20275296" y="25146000"/>
            <a:ext cx="9177528" cy="5394960"/>
          </a:xfrm>
          <a:prstGeom prst="roundRect">
            <a:avLst>
              <a:gd name="adj" fmla="val 5932"/>
            </a:avLst>
          </a:prstGeom>
          <a:solidFill>
            <a:srgbClr val="EEF1F6"/>
          </a:solidFill>
          <a:ln w="12700">
            <a:solidFill>
              <a:srgbClr val="EEF1F6"/>
            </a:solidFill>
            <a:prstDash val="solid"/>
          </a:ln>
        </p:spPr>
      </p:sp>
      <p:sp>
        <p:nvSpPr>
          <p:cNvPr id="80" name="Text 72"/>
          <p:cNvSpPr txBox="1"/>
          <p:nvPr/>
        </p:nvSpPr>
        <p:spPr>
          <a:xfrm>
            <a:off x="20686776" y="25557480"/>
            <a:ext cx="8354568" cy="73152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At real scale: not yet</a:t>
            </a:r>
            <a:endParaRPr lang="en-US" sz="4400" dirty="0"/>
          </a:p>
        </p:txBody>
      </p:sp>
      <p:sp>
        <p:nvSpPr>
          <p:cNvPr id="81" name="Text 73"/>
          <p:cNvSpPr txBox="1"/>
          <p:nvPr/>
        </p:nvSpPr>
        <p:spPr>
          <a:xfrm>
            <a:off x="20686776" y="26517600"/>
            <a:ext cx="8354568" cy="3657600"/>
          </a:xfrm>
          <a:prstGeom prst="rect">
            <a:avLst/>
          </a:prstGeom>
          <a:noFill/>
          <a:ln/>
        </p:spPr>
        <p:txBody>
          <a:bodyPr wrap="square" lIns="0" tIns="0" rIns="0" bIns="0" rtlCol="0" anchor="t"/>
          <a:lstStyle/>
          <a:p>
            <a:pPr algn="l" indent="0" marL="0">
              <a:lnSpc>
                <a:spcPct val="115000"/>
              </a:lnSpc>
              <a:buNone/>
            </a:pPr>
            <a:r>
              <a:rPr lang="en-US" sz="2200" dirty="0">
                <a:solidFill>
                  <a:srgbClr val="1B2A41"/>
                </a:solidFill>
                <a:latin typeface="Arial" pitchFamily="34" charset="0"/>
                <a:ea typeface="Arial" pitchFamily="34" charset="-122"/>
                <a:cs typeface="Arial" pitchFamily="34" charset="-120"/>
              </a:rPr>
              <a:t>On 50 people from one site with a few minutes of training, the model is no better than guessing (52% chance). That is expected at this scale and is not a verdict. The slowest part of training is matching pictures to reports, because once personal details are hidden most reports read the same.</a:t>
            </a:r>
            <a:endParaRPr lang="en-US" sz="2200" dirty="0"/>
          </a:p>
        </p:txBody>
      </p:sp>
      <p:sp>
        <p:nvSpPr>
          <p:cNvPr id="82" name="next steps"/>
          <p:cNvSpPr/>
          <p:nvPr/>
        </p:nvSpPr>
        <p:spPr>
          <a:xfrm>
            <a:off x="822960" y="31089600"/>
            <a:ext cx="28629864" cy="4480560"/>
          </a:xfrm>
          <a:prstGeom prst="roundRect">
            <a:avLst>
              <a:gd name="adj" fmla="val 7143"/>
            </a:avLst>
          </a:prstGeom>
          <a:solidFill>
            <a:srgbClr val="EEF1F6"/>
          </a:solidFill>
          <a:ln w="12700">
            <a:solidFill>
              <a:srgbClr val="EEF1F6"/>
            </a:solidFill>
            <a:prstDash val="solid"/>
          </a:ln>
        </p:spPr>
      </p:sp>
      <p:sp>
        <p:nvSpPr>
          <p:cNvPr id="83" name="Text 75"/>
          <p:cNvSpPr txBox="1"/>
          <p:nvPr/>
        </p:nvSpPr>
        <p:spPr>
          <a:xfrm>
            <a:off x="1234440" y="31501080"/>
            <a:ext cx="27806904" cy="73152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Next steps</a:t>
            </a:r>
            <a:endParaRPr lang="en-US" sz="4400" dirty="0"/>
          </a:p>
        </p:txBody>
      </p:sp>
      <p:sp>
        <p:nvSpPr>
          <p:cNvPr id="84" name="Shape 76"/>
          <p:cNvSpPr/>
          <p:nvPr/>
        </p:nvSpPr>
        <p:spPr>
          <a:xfrm>
            <a:off x="1234440" y="32506920"/>
            <a:ext cx="868680" cy="868680"/>
          </a:xfrm>
          <a:prstGeom prst="ellipse">
            <a:avLst/>
          </a:prstGeom>
          <a:solidFill>
            <a:srgbClr val="1B2A41"/>
          </a:solidFill>
          <a:ln w="12700">
            <a:solidFill>
              <a:srgbClr val="1B2A41"/>
            </a:solidFill>
            <a:prstDash val="solid"/>
          </a:ln>
        </p:spPr>
      </p:sp>
      <p:sp>
        <p:nvSpPr>
          <p:cNvPr id="85" name="Text 77"/>
          <p:cNvSpPr txBox="1"/>
          <p:nvPr/>
        </p:nvSpPr>
        <p:spPr>
          <a:xfrm>
            <a:off x="1234440" y="325069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a:t>
            </a:r>
            <a:endParaRPr lang="en-US" sz="3400" dirty="0"/>
          </a:p>
        </p:txBody>
      </p:sp>
      <p:sp>
        <p:nvSpPr>
          <p:cNvPr id="86" name="Text 78"/>
          <p:cNvSpPr txBox="1"/>
          <p:nvPr/>
        </p:nvSpPr>
        <p:spPr>
          <a:xfrm>
            <a:off x="2286000" y="32506920"/>
            <a:ext cx="4217213" cy="868680"/>
          </a:xfrm>
          <a:prstGeom prst="rect">
            <a:avLst/>
          </a:prstGeom>
          <a:noFill/>
          <a:ln/>
        </p:spPr>
        <p:txBody>
          <a:bodyPr wrap="square" lIns="0" tIns="0" rIns="0" bIns="0" rtlCol="0" anchor="ctr"/>
          <a:lstStyle/>
          <a:p>
            <a:pPr algn="l" indent="0" marL="0">
              <a:buNone/>
            </a:pPr>
            <a:r>
              <a:rPr lang="en-US" sz="2600" b="1" dirty="0">
                <a:solidFill>
                  <a:srgbClr val="1B2A41"/>
                </a:solidFill>
                <a:latin typeface="Arial" pitchFamily="34" charset="0"/>
                <a:ea typeface="Arial" pitchFamily="34" charset="-122"/>
                <a:cs typeface="Arial" pitchFamily="34" charset="-120"/>
              </a:rPr>
              <a:t>Run the model at scale</a:t>
            </a:r>
            <a:endParaRPr lang="en-US" sz="2600" dirty="0"/>
          </a:p>
        </p:txBody>
      </p:sp>
      <p:sp>
        <p:nvSpPr>
          <p:cNvPr id="87" name="Text 79"/>
          <p:cNvSpPr txBox="1"/>
          <p:nvPr/>
        </p:nvSpPr>
        <p:spPr>
          <a:xfrm>
            <a:off x="1234440" y="33512760"/>
            <a:ext cx="5268773" cy="1828800"/>
          </a:xfrm>
          <a:prstGeom prst="rect">
            <a:avLst/>
          </a:prstGeom>
          <a:noFill/>
          <a:ln/>
        </p:spPr>
        <p:txBody>
          <a:bodyPr wrap="square" lIns="0" tIns="0" rIns="0" bIns="0" rtlCol="0" anchor="t"/>
          <a:lstStyle/>
          <a:p>
            <a:pPr algn="l" indent="0" marL="0">
              <a:buNone/>
            </a:pPr>
            <a:r>
              <a:rPr lang="en-US" sz="2200" dirty="0">
                <a:solidFill>
                  <a:srgbClr val="52514E"/>
                </a:solidFill>
                <a:latin typeface="Arial" pitchFamily="34" charset="0"/>
                <a:ea typeface="Arial" pitchFamily="34" charset="-122"/>
                <a:cs typeface="Arial" pitchFamily="34" charset="-120"/>
              </a:rPr>
              <a:t>all 50 PITT people with proper cross-validation, then all 20 sites, on the Yale cluster with longer training.</a:t>
            </a:r>
            <a:endParaRPr lang="en-US" sz="2200" dirty="0"/>
          </a:p>
        </p:txBody>
      </p:sp>
      <p:sp>
        <p:nvSpPr>
          <p:cNvPr id="88" name="Shape 80"/>
          <p:cNvSpPr/>
          <p:nvPr/>
        </p:nvSpPr>
        <p:spPr>
          <a:xfrm>
            <a:off x="6868973" y="32506920"/>
            <a:ext cx="868680" cy="868680"/>
          </a:xfrm>
          <a:prstGeom prst="ellipse">
            <a:avLst/>
          </a:prstGeom>
          <a:solidFill>
            <a:srgbClr val="1B2A41"/>
          </a:solidFill>
          <a:ln w="12700">
            <a:solidFill>
              <a:srgbClr val="1B2A41"/>
            </a:solidFill>
            <a:prstDash val="solid"/>
          </a:ln>
        </p:spPr>
      </p:sp>
      <p:sp>
        <p:nvSpPr>
          <p:cNvPr id="89" name="Text 81"/>
          <p:cNvSpPr txBox="1"/>
          <p:nvPr/>
        </p:nvSpPr>
        <p:spPr>
          <a:xfrm>
            <a:off x="6868973" y="325069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2</a:t>
            </a:r>
            <a:endParaRPr lang="en-US" sz="3400" dirty="0"/>
          </a:p>
        </p:txBody>
      </p:sp>
      <p:sp>
        <p:nvSpPr>
          <p:cNvPr id="90" name="Text 82"/>
          <p:cNvSpPr txBox="1"/>
          <p:nvPr/>
        </p:nvSpPr>
        <p:spPr>
          <a:xfrm>
            <a:off x="7920533" y="32506920"/>
            <a:ext cx="4217213" cy="868680"/>
          </a:xfrm>
          <a:prstGeom prst="rect">
            <a:avLst/>
          </a:prstGeom>
          <a:noFill/>
          <a:ln/>
        </p:spPr>
        <p:txBody>
          <a:bodyPr wrap="square" lIns="0" tIns="0" rIns="0" bIns="0" rtlCol="0" anchor="ctr"/>
          <a:lstStyle/>
          <a:p>
            <a:pPr algn="l" indent="0" marL="0">
              <a:buNone/>
            </a:pPr>
            <a:r>
              <a:rPr lang="en-US" sz="2600" b="1" dirty="0">
                <a:solidFill>
                  <a:srgbClr val="1B2A41"/>
                </a:solidFill>
                <a:latin typeface="Arial" pitchFamily="34" charset="0"/>
                <a:ea typeface="Arial" pitchFamily="34" charset="-122"/>
                <a:cs typeface="Arial" pitchFamily="34" charset="-120"/>
              </a:rPr>
              <a:t>Compare the two fairly</a:t>
            </a:r>
            <a:endParaRPr lang="en-US" sz="2600" dirty="0"/>
          </a:p>
        </p:txBody>
      </p:sp>
      <p:sp>
        <p:nvSpPr>
          <p:cNvPr id="91" name="Text 83"/>
          <p:cNvSpPr txBox="1"/>
          <p:nvPr/>
        </p:nvSpPr>
        <p:spPr>
          <a:xfrm>
            <a:off x="6868973" y="33512760"/>
            <a:ext cx="5268773" cy="1828800"/>
          </a:xfrm>
          <a:prstGeom prst="rect">
            <a:avLst/>
          </a:prstGeom>
          <a:noFill/>
          <a:ln/>
        </p:spPr>
        <p:txBody>
          <a:bodyPr wrap="square" lIns="0" tIns="0" rIns="0" bIns="0" rtlCol="0" anchor="t"/>
          <a:lstStyle/>
          <a:p>
            <a:pPr algn="l" indent="0" marL="0">
              <a:buNone/>
            </a:pPr>
            <a:r>
              <a:rPr lang="en-US" sz="2200" dirty="0">
                <a:solidFill>
                  <a:srgbClr val="52514E"/>
                </a:solidFill>
                <a:latin typeface="Arial" pitchFamily="34" charset="0"/>
                <a:ea typeface="Arial" pitchFamily="34" charset="-122"/>
                <a:cs typeface="Arial" pitchFamily="34" charset="-120"/>
              </a:rPr>
              <a:t>same people, same splits, including the leave-one-site-out test that matters clinically.</a:t>
            </a:r>
            <a:endParaRPr lang="en-US" sz="2200" dirty="0"/>
          </a:p>
        </p:txBody>
      </p:sp>
      <p:sp>
        <p:nvSpPr>
          <p:cNvPr id="92" name="Shape 84"/>
          <p:cNvSpPr/>
          <p:nvPr/>
        </p:nvSpPr>
        <p:spPr>
          <a:xfrm>
            <a:off x="12503506" y="32506920"/>
            <a:ext cx="868680" cy="868680"/>
          </a:xfrm>
          <a:prstGeom prst="ellipse">
            <a:avLst/>
          </a:prstGeom>
          <a:solidFill>
            <a:srgbClr val="1B2A41"/>
          </a:solidFill>
          <a:ln w="12700">
            <a:solidFill>
              <a:srgbClr val="1B2A41"/>
            </a:solidFill>
            <a:prstDash val="solid"/>
          </a:ln>
        </p:spPr>
      </p:sp>
      <p:sp>
        <p:nvSpPr>
          <p:cNvPr id="93" name="Text 85"/>
          <p:cNvSpPr txBox="1"/>
          <p:nvPr/>
        </p:nvSpPr>
        <p:spPr>
          <a:xfrm>
            <a:off x="12503506" y="325069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3</a:t>
            </a:r>
            <a:endParaRPr lang="en-US" sz="3400" dirty="0"/>
          </a:p>
        </p:txBody>
      </p:sp>
      <p:sp>
        <p:nvSpPr>
          <p:cNvPr id="94" name="Text 86"/>
          <p:cNvSpPr txBox="1"/>
          <p:nvPr/>
        </p:nvSpPr>
        <p:spPr>
          <a:xfrm>
            <a:off x="13555066" y="32506920"/>
            <a:ext cx="4217213" cy="868680"/>
          </a:xfrm>
          <a:prstGeom prst="rect">
            <a:avLst/>
          </a:prstGeom>
          <a:noFill/>
          <a:ln/>
        </p:spPr>
        <p:txBody>
          <a:bodyPr wrap="square" lIns="0" tIns="0" rIns="0" bIns="0" rtlCol="0" anchor="ctr"/>
          <a:lstStyle/>
          <a:p>
            <a:pPr algn="l" indent="0" marL="0">
              <a:buNone/>
            </a:pPr>
            <a:r>
              <a:rPr lang="en-US" sz="2600" b="1" dirty="0">
                <a:solidFill>
                  <a:srgbClr val="1B2A41"/>
                </a:solidFill>
                <a:latin typeface="Arial" pitchFamily="34" charset="0"/>
                <a:ea typeface="Arial" pitchFamily="34" charset="-122"/>
                <a:cs typeface="Arial" pitchFamily="34" charset="-120"/>
              </a:rPr>
              <a:t>Richer text reports</a:t>
            </a:r>
            <a:endParaRPr lang="en-US" sz="2600" dirty="0"/>
          </a:p>
        </p:txBody>
      </p:sp>
      <p:sp>
        <p:nvSpPr>
          <p:cNvPr id="95" name="Text 87"/>
          <p:cNvSpPr txBox="1"/>
          <p:nvPr/>
        </p:nvSpPr>
        <p:spPr>
          <a:xfrm>
            <a:off x="12503506" y="33512760"/>
            <a:ext cx="5268773" cy="1828800"/>
          </a:xfrm>
          <a:prstGeom prst="rect">
            <a:avLst/>
          </a:prstGeom>
          <a:noFill/>
          <a:ln/>
        </p:spPr>
        <p:txBody>
          <a:bodyPr wrap="square" lIns="0" tIns="0" rIns="0" bIns="0" rtlCol="0" anchor="t"/>
          <a:lstStyle/>
          <a:p>
            <a:pPr algn="l" indent="0" marL="0">
              <a:buNone/>
            </a:pPr>
            <a:r>
              <a:rPr lang="en-US" sz="2200" dirty="0">
                <a:solidFill>
                  <a:srgbClr val="52514E"/>
                </a:solidFill>
                <a:latin typeface="Arial" pitchFamily="34" charset="0"/>
                <a:ea typeface="Arial" pitchFamily="34" charset="-122"/>
                <a:cs typeface="Arial" pitchFamily="34" charset="-120"/>
              </a:rPr>
              <a:t>hide fewer details or add clinical fields, so pictures can be matched to reports.</a:t>
            </a:r>
            <a:endParaRPr lang="en-US" sz="2200" dirty="0"/>
          </a:p>
        </p:txBody>
      </p:sp>
      <p:sp>
        <p:nvSpPr>
          <p:cNvPr id="96" name="Shape 88"/>
          <p:cNvSpPr/>
          <p:nvPr/>
        </p:nvSpPr>
        <p:spPr>
          <a:xfrm>
            <a:off x="18138038" y="32506920"/>
            <a:ext cx="868680" cy="868680"/>
          </a:xfrm>
          <a:prstGeom prst="ellipse">
            <a:avLst/>
          </a:prstGeom>
          <a:solidFill>
            <a:srgbClr val="1B2A41"/>
          </a:solidFill>
          <a:ln w="12700">
            <a:solidFill>
              <a:srgbClr val="1B2A41"/>
            </a:solidFill>
            <a:prstDash val="solid"/>
          </a:ln>
        </p:spPr>
      </p:sp>
      <p:sp>
        <p:nvSpPr>
          <p:cNvPr id="97" name="Text 89"/>
          <p:cNvSpPr txBox="1"/>
          <p:nvPr/>
        </p:nvSpPr>
        <p:spPr>
          <a:xfrm>
            <a:off x="18138038" y="325069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4</a:t>
            </a:r>
            <a:endParaRPr lang="en-US" sz="3400" dirty="0"/>
          </a:p>
        </p:txBody>
      </p:sp>
      <p:sp>
        <p:nvSpPr>
          <p:cNvPr id="98" name="Text 90"/>
          <p:cNvSpPr txBox="1"/>
          <p:nvPr/>
        </p:nvSpPr>
        <p:spPr>
          <a:xfrm>
            <a:off x="19189598" y="32506920"/>
            <a:ext cx="4217213" cy="868680"/>
          </a:xfrm>
          <a:prstGeom prst="rect">
            <a:avLst/>
          </a:prstGeom>
          <a:noFill/>
          <a:ln/>
        </p:spPr>
        <p:txBody>
          <a:bodyPr wrap="square" lIns="0" tIns="0" rIns="0" bIns="0" rtlCol="0" anchor="ctr"/>
          <a:lstStyle/>
          <a:p>
            <a:pPr algn="l" indent="0" marL="0">
              <a:buNone/>
            </a:pPr>
            <a:r>
              <a:rPr lang="en-US" sz="2600" b="1" dirty="0">
                <a:solidFill>
                  <a:srgbClr val="1B2A41"/>
                </a:solidFill>
                <a:latin typeface="Arial" pitchFamily="34" charset="0"/>
                <a:ea typeface="Arial" pitchFamily="34" charset="-122"/>
                <a:cs typeface="Arial" pitchFamily="34" charset="-120"/>
              </a:rPr>
              <a:t>Back to the biology</a:t>
            </a:r>
            <a:endParaRPr lang="en-US" sz="2600" dirty="0"/>
          </a:p>
        </p:txBody>
      </p:sp>
      <p:sp>
        <p:nvSpPr>
          <p:cNvPr id="99" name="Text 91"/>
          <p:cNvSpPr txBox="1"/>
          <p:nvPr/>
        </p:nvSpPr>
        <p:spPr>
          <a:xfrm>
            <a:off x="18138038" y="33512760"/>
            <a:ext cx="5268773" cy="1828800"/>
          </a:xfrm>
          <a:prstGeom prst="rect">
            <a:avLst/>
          </a:prstGeom>
          <a:noFill/>
          <a:ln/>
        </p:spPr>
        <p:txBody>
          <a:bodyPr wrap="square" lIns="0" tIns="0" rIns="0" bIns="0" rtlCol="0" anchor="t"/>
          <a:lstStyle/>
          <a:p>
            <a:pPr algn="l" indent="0" marL="0">
              <a:buNone/>
            </a:pPr>
            <a:r>
              <a:rPr lang="en-US" sz="2200" dirty="0">
                <a:solidFill>
                  <a:srgbClr val="52514E"/>
                </a:solidFill>
                <a:latin typeface="Arial" pitchFamily="34" charset="0"/>
                <a:ea typeface="Arial" pitchFamily="34" charset="-122"/>
                <a:cs typeface="Arial" pitchFamily="34" charset="-120"/>
              </a:rPr>
              <a:t>which region pairs carry the most weight, and do they match autism networks in the literature?</a:t>
            </a:r>
            <a:endParaRPr lang="en-US" sz="2200" dirty="0"/>
          </a:p>
        </p:txBody>
      </p:sp>
      <p:sp>
        <p:nvSpPr>
          <p:cNvPr id="100" name="Shape 92"/>
          <p:cNvSpPr/>
          <p:nvPr/>
        </p:nvSpPr>
        <p:spPr>
          <a:xfrm>
            <a:off x="23772571" y="32506920"/>
            <a:ext cx="868680" cy="868680"/>
          </a:xfrm>
          <a:prstGeom prst="ellipse">
            <a:avLst/>
          </a:prstGeom>
          <a:solidFill>
            <a:srgbClr val="1B2A41"/>
          </a:solidFill>
          <a:ln w="12700">
            <a:solidFill>
              <a:srgbClr val="1B2A41"/>
            </a:solidFill>
            <a:prstDash val="solid"/>
          </a:ln>
        </p:spPr>
      </p:sp>
      <p:sp>
        <p:nvSpPr>
          <p:cNvPr id="101" name="Text 93"/>
          <p:cNvSpPr txBox="1"/>
          <p:nvPr/>
        </p:nvSpPr>
        <p:spPr>
          <a:xfrm>
            <a:off x="23772571" y="325069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5</a:t>
            </a:r>
            <a:endParaRPr lang="en-US" sz="3400" dirty="0"/>
          </a:p>
        </p:txBody>
      </p:sp>
      <p:sp>
        <p:nvSpPr>
          <p:cNvPr id="102" name="Text 94"/>
          <p:cNvSpPr txBox="1"/>
          <p:nvPr/>
        </p:nvSpPr>
        <p:spPr>
          <a:xfrm>
            <a:off x="24824131" y="32506920"/>
            <a:ext cx="4217213" cy="868680"/>
          </a:xfrm>
          <a:prstGeom prst="rect">
            <a:avLst/>
          </a:prstGeom>
          <a:noFill/>
          <a:ln/>
        </p:spPr>
        <p:txBody>
          <a:bodyPr wrap="square" lIns="0" tIns="0" rIns="0" bIns="0" rtlCol="0" anchor="ctr"/>
          <a:lstStyle/>
          <a:p>
            <a:pPr algn="l" indent="0" marL="0">
              <a:buNone/>
            </a:pPr>
            <a:r>
              <a:rPr lang="en-US" sz="2600" b="1" dirty="0">
                <a:solidFill>
                  <a:srgbClr val="1B2A41"/>
                </a:solidFill>
                <a:latin typeface="Arial" pitchFamily="34" charset="0"/>
                <a:ea typeface="Arial" pitchFamily="34" charset="-122"/>
                <a:cs typeface="Arial" pitchFamily="34" charset="-120"/>
              </a:rPr>
              <a:t>Write it up</a:t>
            </a:r>
            <a:endParaRPr lang="en-US" sz="2600" dirty="0"/>
          </a:p>
        </p:txBody>
      </p:sp>
      <p:sp>
        <p:nvSpPr>
          <p:cNvPr id="103" name="Text 95"/>
          <p:cNvSpPr txBox="1"/>
          <p:nvPr/>
        </p:nvSpPr>
        <p:spPr>
          <a:xfrm>
            <a:off x="23772571" y="33512760"/>
            <a:ext cx="5268773" cy="1828800"/>
          </a:xfrm>
          <a:prstGeom prst="rect">
            <a:avLst/>
          </a:prstGeom>
          <a:noFill/>
          <a:ln/>
        </p:spPr>
        <p:txBody>
          <a:bodyPr wrap="square" lIns="0" tIns="0" rIns="0" bIns="0" rtlCol="0" anchor="t"/>
          <a:lstStyle/>
          <a:p>
            <a:pPr algn="l" indent="0" marL="0">
              <a:buNone/>
            </a:pPr>
            <a:r>
              <a:rPr lang="en-US" sz="2200" dirty="0">
                <a:solidFill>
                  <a:srgbClr val="52514E"/>
                </a:solidFill>
                <a:latin typeface="Arial" pitchFamily="34" charset="0"/>
                <a:ea typeface="Arial" pitchFamily="34" charset="-122"/>
                <a:cs typeface="Arial" pitchFamily="34" charset="-120"/>
              </a:rPr>
              <a:t>once step 1 has run.</a:t>
            </a:r>
            <a:endParaRPr lang="en-US" sz="2200" dirty="0"/>
          </a:p>
        </p:txBody>
      </p:sp>
      <p:sp>
        <p:nvSpPr>
          <p:cNvPr id="104" name="trust"/>
          <p:cNvSpPr/>
          <p:nvPr/>
        </p:nvSpPr>
        <p:spPr>
          <a:xfrm>
            <a:off x="822960" y="36118800"/>
            <a:ext cx="28629864" cy="3108960"/>
          </a:xfrm>
          <a:prstGeom prst="roundRect">
            <a:avLst>
              <a:gd name="adj" fmla="val 10294"/>
            </a:avLst>
          </a:prstGeom>
          <a:solidFill>
            <a:srgbClr val="EEF1F6"/>
          </a:solidFill>
          <a:ln w="12700">
            <a:solidFill>
              <a:srgbClr val="EEF1F6"/>
            </a:solidFill>
            <a:prstDash val="solid"/>
          </a:ln>
        </p:spPr>
      </p:sp>
      <p:sp>
        <p:nvSpPr>
          <p:cNvPr id="105" name="Text 97"/>
          <p:cNvSpPr txBox="1"/>
          <p:nvPr/>
        </p:nvSpPr>
        <p:spPr>
          <a:xfrm>
            <a:off x="1234440" y="36530280"/>
            <a:ext cx="27806904" cy="731520"/>
          </a:xfrm>
          <a:prstGeom prst="rect">
            <a:avLst/>
          </a:prstGeom>
          <a:noFill/>
          <a:ln/>
        </p:spPr>
        <p:txBody>
          <a:bodyPr wrap="square" lIns="0" tIns="0" rIns="0" bIns="0" rtlCol="0" anchor="t"/>
          <a:lstStyle/>
          <a:p>
            <a:pPr algn="l" indent="0" marL="0">
              <a:lnSpc>
                <a:spcPct val="105000"/>
              </a:lnSpc>
              <a:buNone/>
            </a:pPr>
            <a:r>
              <a:rPr lang="en-US" sz="4400" b="1" dirty="0">
                <a:solidFill>
                  <a:srgbClr val="1B2A41"/>
                </a:solidFill>
                <a:latin typeface="Arial" pitchFamily="34" charset="0"/>
                <a:ea typeface="Arial" pitchFamily="34" charset="-122"/>
                <a:cs typeface="Arial" pitchFamily="34" charset="-120"/>
              </a:rPr>
              <a:t>How we make sure the numbers can be trusted</a:t>
            </a:r>
            <a:endParaRPr lang="en-US" sz="4400" dirty="0"/>
          </a:p>
        </p:txBody>
      </p:sp>
      <p:sp>
        <p:nvSpPr>
          <p:cNvPr id="106" name="Text 98"/>
          <p:cNvSpPr txBox="1"/>
          <p:nvPr/>
        </p:nvSpPr>
        <p:spPr>
          <a:xfrm>
            <a:off x="1234440" y="37444680"/>
            <a:ext cx="8964168" cy="164592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No peeking.</a:t>
            </a:r>
            <a:pPr algn="l" indent="0" marL="0">
              <a:buNone/>
            </a:pPr>
            <a:r>
              <a:rPr lang="en-US" sz="2200" dirty="0">
                <a:solidFill>
                  <a:srgbClr val="1B2A41"/>
                </a:solidFill>
                <a:latin typeface="Arial" pitchFamily="34" charset="0"/>
                <a:ea typeface="Arial" pitchFamily="34" charset="-122"/>
                <a:cs typeface="Arial" pitchFamily="34" charset="-120"/>
              </a:rPr>
              <a:t> Every number comes from people the model never saw during training, and anything learned from data (even an average) is learned from the training group only. Automated tests check this every time the code changes.</a:t>
            </a:r>
            <a:endParaRPr lang="en-US" sz="2200" dirty="0"/>
          </a:p>
        </p:txBody>
      </p:sp>
      <p:sp>
        <p:nvSpPr>
          <p:cNvPr id="107" name="Text 99"/>
          <p:cNvSpPr txBox="1"/>
          <p:nvPr/>
        </p:nvSpPr>
        <p:spPr>
          <a:xfrm>
            <a:off x="10655808" y="37444680"/>
            <a:ext cx="8964168" cy="164592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Quality gates.</a:t>
            </a:r>
            <a:pPr algn="l" indent="0" marL="0">
              <a:buNone/>
            </a:pPr>
            <a:r>
              <a:rPr lang="en-US" sz="2200" dirty="0">
                <a:solidFill>
                  <a:srgbClr val="1B2A41"/>
                </a:solidFill>
                <a:latin typeface="Arial" pitchFamily="34" charset="0"/>
                <a:ea typeface="Arial" pitchFamily="34" charset="-122"/>
                <a:cs typeface="Arial" pitchFamily="34" charset="-120"/>
              </a:rPr>
              <a:t> Tests and style checks must pass before a change is kept, and every reported number is tied to the exact command and code version that produced it.</a:t>
            </a:r>
            <a:endParaRPr lang="en-US" sz="2200" dirty="0"/>
          </a:p>
        </p:txBody>
      </p:sp>
      <p:sp>
        <p:nvSpPr>
          <p:cNvPr id="108" name="Text 100"/>
          <p:cNvSpPr txBox="1"/>
          <p:nvPr/>
        </p:nvSpPr>
        <p:spPr>
          <a:xfrm>
            <a:off x="20077176" y="37444680"/>
            <a:ext cx="8964168" cy="1645920"/>
          </a:xfrm>
          <a:prstGeom prst="rect">
            <a:avLst/>
          </a:prstGeom>
          <a:noFill/>
          <a:ln/>
        </p:spPr>
        <p:txBody>
          <a:bodyPr wrap="square" lIns="0" tIns="0" rIns="0" bIns="0" rtlCol="0" anchor="t"/>
          <a:lstStyle/>
          <a:p>
            <a:pPr algn="l" indent="0" marL="0">
              <a:buNone/>
            </a:pPr>
            <a:r>
              <a:rPr lang="en-US" sz="2200" b="1" dirty="0">
                <a:solidFill>
                  <a:srgbClr val="1B2A41"/>
                </a:solidFill>
                <a:latin typeface="Arial" pitchFamily="34" charset="0"/>
                <a:ea typeface="Arial" pitchFamily="34" charset="-122"/>
                <a:cs typeface="Arial" pitchFamily="34" charset="-120"/>
              </a:rPr>
              <a:t>Honest chance.</a:t>
            </a:r>
            <a:pPr algn="l" indent="0" marL="0">
              <a:buNone/>
            </a:pPr>
            <a:r>
              <a:rPr lang="en-US" sz="2200" dirty="0">
                <a:solidFill>
                  <a:srgbClr val="1B2A41"/>
                </a:solidFill>
                <a:latin typeface="Arial" pitchFamily="34" charset="0"/>
                <a:ea typeface="Arial" pitchFamily="34" charset="-122"/>
                <a:cs typeface="Arial" pitchFamily="34" charset="-120"/>
              </a:rPr>
              <a:t> "Chance" is what you get by always guessing the larger group (54%), not 50%.</a:t>
            </a:r>
            <a:endParaRPr lang="en-US" sz="2200" dirty="0"/>
          </a:p>
        </p:txBody>
      </p:sp>
      <p:sp>
        <p:nvSpPr>
          <p:cNvPr id="109" name="Text 101"/>
          <p:cNvSpPr txBox="1"/>
          <p:nvPr/>
        </p:nvSpPr>
        <p:spPr>
          <a:xfrm>
            <a:off x="822960" y="39639240"/>
            <a:ext cx="28629864" cy="1005840"/>
          </a:xfrm>
          <a:prstGeom prst="rect">
            <a:avLst/>
          </a:prstGeom>
          <a:noFill/>
          <a:ln/>
        </p:spPr>
        <p:txBody>
          <a:bodyPr wrap="square" lIns="0" tIns="0" rIns="0" bIns="0" rtlCol="0" anchor="t"/>
          <a:lstStyle/>
          <a:p>
            <a:pPr algn="l" indent="0" marL="0">
              <a:buNone/>
            </a:pPr>
            <a:r>
              <a:rPr lang="en-US" sz="1900" b="1" dirty="0">
                <a:solidFill>
                  <a:srgbClr val="52514E"/>
                </a:solidFill>
                <a:latin typeface="Arial" pitchFamily="34" charset="0"/>
                <a:ea typeface="Arial" pitchFamily="34" charset="-122"/>
                <a:cs typeface="Arial" pitchFamily="34" charset="-120"/>
              </a:rPr>
              <a:t>Cross-validation: </a:t>
            </a:r>
            <a:pPr algn="l" indent="0" marL="0">
              <a:buNone/>
            </a:pPr>
            <a:r>
              <a:rPr lang="en-US" sz="1900" dirty="0">
                <a:solidFill>
                  <a:srgbClr val="52514E"/>
                </a:solidFill>
                <a:latin typeface="Arial" pitchFamily="34" charset="0"/>
                <a:ea typeface="Arial" pitchFamily="34" charset="-122"/>
                <a:cs typeface="Arial" pitchFamily="34" charset="-120"/>
              </a:rPr>
              <a:t>train on most people, test on the rest, repeated so everyone is tested once.   </a:t>
            </a:r>
            <a:pPr algn="l" indent="0" marL="0">
              <a:buNone/>
            </a:pPr>
            <a:r>
              <a:rPr lang="en-US" sz="1900" b="1" dirty="0">
                <a:solidFill>
                  <a:srgbClr val="52514E"/>
                </a:solidFill>
                <a:latin typeface="Arial" pitchFamily="34" charset="0"/>
                <a:ea typeface="Arial" pitchFamily="34" charset="-122"/>
                <a:cs typeface="Arial" pitchFamily="34" charset="-120"/>
              </a:rPr>
              <a:t>Leave-one-site-out: </a:t>
            </a:r>
            <a:pPr algn="l" indent="0" marL="0">
              <a:buNone/>
            </a:pPr>
            <a:r>
              <a:rPr lang="en-US" sz="1900" dirty="0">
                <a:solidFill>
                  <a:srgbClr val="52514E"/>
                </a:solidFill>
                <a:latin typeface="Arial" pitchFamily="34" charset="0"/>
                <a:ea typeface="Arial" pitchFamily="34" charset="-122"/>
                <a:cs typeface="Arial" pitchFamily="34" charset="-120"/>
              </a:rPr>
              <a:t>train on 19 sites, test on the 20th.   </a:t>
            </a:r>
            <a:pPr algn="l" indent="0" marL="0">
              <a:buNone/>
            </a:pPr>
            <a:r>
              <a:rPr lang="en-US" sz="1900" b="1" dirty="0">
                <a:solidFill>
                  <a:srgbClr val="52514E"/>
                </a:solidFill>
                <a:latin typeface="Arial" pitchFamily="34" charset="0"/>
                <a:ea typeface="Arial" pitchFamily="34" charset="-122"/>
                <a:cs typeface="Arial" pitchFamily="34" charset="-120"/>
              </a:rPr>
              <a:t>Leakage: </a:t>
            </a:r>
            <a:pPr algn="l" indent="0" marL="0">
              <a:buNone/>
            </a:pPr>
            <a:r>
              <a:rPr lang="en-US" sz="1900" dirty="0">
                <a:solidFill>
                  <a:srgbClr val="52514E"/>
                </a:solidFill>
                <a:latin typeface="Arial" pitchFamily="34" charset="0"/>
                <a:ea typeface="Arial" pitchFamily="34" charset="-122"/>
                <a:cs typeface="Arial" pitchFamily="34" charset="-120"/>
              </a:rPr>
              <a:t>any way test information can influence training; it inflates results.   </a:t>
            </a:r>
            <a:pPr algn="l" indent="0" marL="0">
              <a:buNone/>
            </a:pPr>
            <a:r>
              <a:rPr lang="en-US" sz="1900" b="1" dirty="0">
                <a:solidFill>
                  <a:srgbClr val="52514E"/>
                </a:solidFill>
                <a:latin typeface="Arial" pitchFamily="34" charset="0"/>
                <a:ea typeface="Arial" pitchFamily="34" charset="-122"/>
                <a:cs typeface="Arial" pitchFamily="34" charset="-120"/>
              </a:rPr>
              <a:t>Loss: </a:t>
            </a:r>
            <a:pPr algn="l" indent="0" marL="0">
              <a:buNone/>
            </a:pPr>
            <a:r>
              <a:rPr lang="en-US" sz="1900" dirty="0">
                <a:solidFill>
                  <a:srgbClr val="52514E"/>
                </a:solidFill>
                <a:latin typeface="Arial" pitchFamily="34" charset="0"/>
                <a:ea typeface="Arial" pitchFamily="34" charset="-122"/>
                <a:cs typeface="Arial" pitchFamily="34" charset="-120"/>
              </a:rPr>
              <a:t>the model's running error score; falling means learning.</a:t>
            </a:r>
            <a:endParaRPr lang="en-US" sz="1900" dirty="0"/>
          </a:p>
        </p:txBody>
      </p:sp>
      <p:sp>
        <p:nvSpPr>
          <p:cNvPr id="110" name="Text 102"/>
          <p:cNvSpPr txBox="1"/>
          <p:nvPr/>
        </p:nvSpPr>
        <p:spPr>
          <a:xfrm>
            <a:off x="822960" y="40736520"/>
            <a:ext cx="28629864" cy="822960"/>
          </a:xfrm>
          <a:prstGeom prst="rect">
            <a:avLst/>
          </a:prstGeom>
          <a:noFill/>
          <a:ln/>
        </p:spPr>
        <p:txBody>
          <a:bodyPr wrap="square" lIns="0" tIns="0" rIns="0" bIns="0" rtlCol="0" anchor="t"/>
          <a:lstStyle/>
          <a:p>
            <a:pPr algn="l" indent="0" marL="0">
              <a:buNone/>
            </a:pPr>
            <a:r>
              <a:rPr lang="en-US" sz="1700" dirty="0">
                <a:solidFill>
                  <a:srgbClr val="898781"/>
                </a:solidFill>
                <a:latin typeface="Arial" pitchFamily="34" charset="0"/>
                <a:ea typeface="Arial" pitchFamily="34" charset="-122"/>
                <a:cs typeface="Arial" pitchFamily="34" charset="-120"/>
              </a:rPr>
              <a:t>Abraham A. et al. (2017) Deriving reproducible biomarkers from multi-site resting-state data: the ABIDE autism dataset, NeuroImage.   Du Y., Onofrey J., Dvornek N.C. (2024) MaMA: multi-view and multi-scale alignment for contrastive language-image pre-training in mammography, IPMI 2025.   Data: ABIDE Preprocessed Connectomes Project (C-PAC pipeline, quality-checked sample).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computer tell autism from a resting brain scan?</dc:title>
  <dc:subject>PptxGenJS Presentation</dc:subject>
  <dc:creator>Tamilore Bolodeoku</dc:creator>
  <cp:lastModifiedBy>Tamilore Bolodeoku</cp:lastModifiedBy>
  <cp:revision>1</cp:revision>
  <dcterms:created xsi:type="dcterms:W3CDTF">2026-10-06T14:46:23Z</dcterms:created>
  <dcterms:modified xsi:type="dcterms:W3CDTF">2026-10-06T14:46:23Z</dcterms:modified>
</cp:coreProperties>
</file>